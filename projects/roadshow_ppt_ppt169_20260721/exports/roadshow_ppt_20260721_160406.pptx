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slide" Target="../slides/slide7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评委老师好，我们组的产品叫三会智理，它是一个面向上市企业会议管理的网页应用，专门服务股东会、董事会和监事会（也就是“三会”），以及其他会议的日常管理工作。在许多公司尤其是待上市公司中，以三会为主的会务工作对企业负担较重。从规划到记录的全过程繁琐、合规风险高。法务和董秘需要核对通知期限、要整理与会人员名单和会议纪要，还要准备全套通知、议程、签到表、决议等文书，最后归档留存。这些工作大量依赖人工，且容错率非常低，合规瑕疵就意味着法律风险和经济损失。三会智理旨在将整套流程自动化，并且预测合规风险供用户调整会议安排、修改会议文书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三会智理是一个全栈网页应用，前端用React构建界面，后端用Express提供接口，两者部署在同一个服务里，可以直接在云平台上运行。系统选择飞书多维表格作为数据中台，意味着会议信息、人员信息、议案、文书等数据不是孤立地存在于我们自己的数据库中，而是实时读写在客户的飞书表格中，方便企业的其他系统和人员协同查看。打开网页，第一个板块是全局控制台，待办会议数、已生成文书数、法定通知预警、与会人员总数四个核心指标在最醒目的位置，配合按会议类型着色的日历视图，让用户对于临期会议、合规指数较低的会议一目了然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会议管理模块负责会议的创建和维护。创建会议时，系统会根据选择的会议类型自动提示对应的法定门槛，比如临时股东会需要持股10%以上的股东提议才能召开，这类规则直接写进了创建流程中。与会人员的选择也做了优先级排序，董事、监事、高管、股东依次排列，股东还会自动标注持股比例。会议信息保存后实时同步到飞书表格，如果飞书那边还没有对应字段，系统会友好地提示并把数据先存在本地。</a:t>
            </a:r>
          </a:p>
          <a:p>
            <a:r>
              <a:rPr lang="zh-CN" dirty="0"/>
              <a:t>会议结束后，录音工作台负责将音频与会议纪要转成规范文档。它支持上传文稿与录音文件，后者使用飞书妙记的转写功能。转写完成后，系统能把飞书里该会议的基本信息、录音识别文件和已有议案自动关联，明确标出待补齐的内容。生成的文本可以按照国标文档规范预览和编辑，最后一键导出成Word文件，也可以推送到文书中心继续加工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文书中心是承担核心产出的模块。它提供会议通知、议程、签到表、决议、纪要、公告等多种文书模板，支持在线编辑和实时预览，最终可以导出成Word或PDF。这个模块和会议管理、录音工作台双向联动。系统在服务端准备了一整套Word模板，可以直接用飞书里的会议数据批量渲染，把一场会议需要的全部文书打包成压缩包下载，股东会对应9份文书，董事会和监事会各对应6份。</a:t>
            </a:r>
          </a:p>
          <a:p>
            <a:r>
              <a:rPr lang="zh-CN" dirty="0"/>
              <a:t>与会人员模块管理董监高和股东的完整信息，包括任期、独立性声明、关联关系、持股比例。这个模块也做了自动化的合规检测：比如系统规定董事和高级管理人员不能兼任监事；独立董事占比会自动计算并和监管要求的33%比较；每个人的任期兼剩余天数也会自动标注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里我想重点讲一下合规审查模块，这是我们认为最能体现产品价值的部分。在合规场景中，AI最大的风险是信息准确度不足，轻度的法律风险也可能造成极大损失。因此，我们在合规审查上设计了两条通道。第一条通道基于大模型做自由文本分析，生成一份可读性强的综合报告。第二条通道，是一个不依赖大模型的规则引擎。它从上传的文件和飞书里的会议上下文中，用规则化的方式提取事实，然后逐条对照公司法的具体条款生成风险项，并给出一个0到100的合规指数。该引擎的设计原则是只依据当前材料下结论，如果某项信息缺失，就明确标注为“无法判断”。审查结论必须可回溯，每一条风险评价都能追溯到具体的规则和事实，而不是一个黑箱式的评分。推理链条完全透明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从实现的角度看，整个系统是一个前后端运行在同一进程里的 Express 应用：浏览器端的 React 单页应用直接向后端接口发起请求，同时保留一部分纯前端能力，比如用 docx.js 在浏览器端直接生成 Word 文件。后端的核心是飞书接入这一层，负责获取和缓存访问令牌、读写多维表格记录，这一层做了容错设计：默认按表名自动匹配，也支持用环境变量手动指定。外部集成方面，飞书多维表格和妙记是系统的主数据源，签名认证部分是自行实现的HMAC-SHA256签名算法。文书批量生成模块在服务端用JSZip读取预先准备好的Word母版文件做占位符替换和循环展开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综上所述，三会智理旨在将重复繁琐、容错率低的企业会务工作进行自动化执行和合规审查，并通过借助深度融入飞书生态提高本产品的用户间通信效率。感谢各位垂听，请各位评委老师批评指正。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295756f678358110.pn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295756f678358110.png"/>
  <Relationship Id="rId3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rcRect l="388" t="0" r="388" b="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A1A24">
                  <a:alpha val="30000"/>
                </a:srgbClr>
              </a:gs>
              <a:gs pos="100000">
                <a:srgbClr val="1A1A24">
                  <a:alpha val="95000"/>
                </a:srgbClr>
              </a:gs>
            </a:gsLst>
            <a:lin ang="5400000" scaled="1"/>
          </a:gra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480060" y="2270760"/>
            <a:ext cx="9210294" cy="3834765"/>
            <a:chOff x="480060" y="2270760"/>
            <a:chExt cx="9210294" cy="3834765"/>
          </a:xfrm>
        </p:grpSpPr>
        <p:sp>
          <p:nvSpPr>
            <p:cNvPr id="4" name="TextBox 4"/>
            <p:cNvSpPr txBox="1"/>
            <p:nvPr/>
          </p:nvSpPr>
          <p:spPr>
            <a:xfrm>
              <a:off x="480060" y="2270760"/>
              <a:ext cx="4215384" cy="1463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0" b="1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三会智理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71500" y="3619500"/>
              <a:ext cx="762000" cy="7620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25780" y="3897630"/>
              <a:ext cx="9164574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B0B0C0"/>
                  </a:solidFill>
                  <a:latin typeface="Times New Roman"/>
                  <a:ea typeface="KaiTi"/>
                  <a:cs typeface="Times New Roman"/>
                </a:rPr>
                <a:t>面向上市企业的三会管理与智能合规平台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44830" y="5678805"/>
              <a:ext cx="401583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rgbClr val="808090"/>
                  </a:solidFill>
                  <a:latin typeface="Times New Roman"/>
                  <a:ea typeface="KaiTi"/>
                  <a:cs typeface="Times New Roman"/>
                </a:rPr>
                <a:t>将流程自动化 · 将合规交予规则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4"/>
          </a:solidFill>
          <a:ln>
            <a:noFill/>
          </a:ln>
        </p:spPr>
      </p:sp>
      <p:grpSp>
        <p:nvGrpSpPr>
          <p:cNvPr id="12" name="Group 12"/>
          <p:cNvGrpSpPr/>
          <p:nvPr/>
        </p:nvGrpSpPr>
        <p:grpSpPr>
          <a:xfrm>
            <a:off x="571500" y="430530"/>
            <a:ext cx="11049000" cy="731520"/>
            <a:chOff x="571500" y="430530"/>
            <a:chExt cx="11049000" cy="731520"/>
          </a:xfrm>
        </p:grpSpPr>
        <p:grpSp>
          <p:nvGrpSpPr>
            <p:cNvPr id="9" name="Group 9"/>
            <p:cNvGrpSpPr/>
            <p:nvPr/>
          </p:nvGrpSpPr>
          <p:grpSpPr>
            <a:xfrm>
              <a:off x="647700" y="552450"/>
              <a:ext cx="304800" cy="304800"/>
              <a:chOff x="647700" y="552450"/>
              <a:chExt cx="304800" cy="304800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723900" y="628650"/>
                <a:ext cx="1524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52400">
                    <a:moveTo>
                      <a:pt x="0" y="0"/>
                    </a:moveTo>
                    <a:lnTo>
                      <a:pt x="152400" y="0"/>
                    </a:lnTo>
                    <a:lnTo>
                      <a:pt x="152400" y="152400"/>
                    </a:lnTo>
                    <a:lnTo>
                      <a:pt x="0" y="152400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647700" y="552450"/>
                <a:ext cx="304800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304800">
                    <a:moveTo>
                      <a:pt x="0" y="38100"/>
                    </a:moveTo>
                    <a:cubicBezTo>
                      <a:pt x="0" y="17058"/>
                      <a:pt x="17058" y="0"/>
                      <a:pt x="38100" y="0"/>
                    </a:cubicBezTo>
                    <a:lnTo>
                      <a:pt x="266700" y="0"/>
                    </a:lnTo>
                    <a:cubicBezTo>
                      <a:pt x="287742" y="0"/>
                      <a:pt x="304800" y="17058"/>
                      <a:pt x="304800" y="38100"/>
                    </a:cubicBezTo>
                    <a:lnTo>
                      <a:pt x="304800" y="266700"/>
                    </a:lnTo>
                    <a:cubicBezTo>
                      <a:pt x="304800" y="287742"/>
                      <a:pt x="287742" y="304800"/>
                      <a:pt x="266700" y="304800"/>
                    </a:cubicBezTo>
                    <a:lnTo>
                      <a:pt x="38100" y="304800"/>
                    </a:lnTo>
                    <a:cubicBezTo>
                      <a:pt x="17058" y="304800"/>
                      <a:pt x="0" y="287742"/>
                      <a:pt x="0" y="266700"/>
                    </a:cubicBez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876300" y="781050"/>
                <a:ext cx="62865" cy="62865"/>
              </a:xfrm>
              <a:custGeom>
                <a:avLst/>
                <a:gdLst/>
                <a:ahLst/>
                <a:cxnLst/>
                <a:rect l="l" t="t" r="r" b="b"/>
                <a:pathLst>
                  <a:path w="62865" h="62865">
                    <a:moveTo>
                      <a:pt x="0" y="0"/>
                    </a:moveTo>
                    <a:lnTo>
                      <a:pt x="62865" y="62865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876300" y="565785"/>
                <a:ext cx="62865" cy="62865"/>
              </a:xfrm>
              <a:custGeom>
                <a:avLst/>
                <a:gdLst/>
                <a:ahLst/>
                <a:cxnLst/>
                <a:rect l="l" t="t" r="r" b="b"/>
                <a:pathLst>
                  <a:path w="62865" h="62865">
                    <a:moveTo>
                      <a:pt x="0" y="62865"/>
                    </a:moveTo>
                    <a:lnTo>
                      <a:pt x="62865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661035" y="565785"/>
                <a:ext cx="62865" cy="62865"/>
              </a:xfrm>
              <a:custGeom>
                <a:avLst/>
                <a:gdLst/>
                <a:ahLst/>
                <a:cxnLst/>
                <a:rect l="l" t="t" r="r" b="b"/>
                <a:pathLst>
                  <a:path w="62865" h="62865">
                    <a:moveTo>
                      <a:pt x="62865" y="62865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661035" y="781050"/>
                <a:ext cx="62865" cy="62865"/>
              </a:xfrm>
              <a:custGeom>
                <a:avLst/>
                <a:gdLst/>
                <a:ahLst/>
                <a:cxnLst/>
                <a:rect l="l" t="t" r="r" b="b"/>
                <a:pathLst>
                  <a:path w="62865" h="62865">
                    <a:moveTo>
                      <a:pt x="62865" y="0"/>
                    </a:moveTo>
                    <a:lnTo>
                      <a:pt x="0" y="62865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10" name="TextBox 10"/>
            <p:cNvSpPr txBox="1"/>
            <p:nvPr/>
          </p:nvSpPr>
          <p:spPr>
            <a:xfrm>
              <a:off x="1097280" y="430530"/>
              <a:ext cx="8080839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产品概述: 全栈驱动与飞书数据中台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571500" y="10477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rgbClr val="3A3A4A"/>
              </a:solidFill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571500" y="1428750"/>
            <a:ext cx="11049000" cy="1905000"/>
            <a:chOff x="571500" y="1428750"/>
            <a:chExt cx="11049000" cy="1905000"/>
          </a:xfrm>
        </p:grpSpPr>
        <p:sp>
          <p:nvSpPr>
            <p:cNvPr id="13" name="Rectangle 13"/>
            <p:cNvSpPr/>
            <p:nvPr/>
          </p:nvSpPr>
          <p:spPr>
            <a:xfrm>
              <a:off x="571500" y="1428750"/>
              <a:ext cx="2857500" cy="1905000"/>
            </a:xfrm>
            <a:prstGeom prst="roundRect">
              <a:avLst>
                <a:gd name="adj" fmla="val 8000"/>
              </a:avLst>
            </a:prstGeom>
            <a:solidFill>
              <a:srgbClr val="2A2A38"/>
            </a:solidFill>
            <a:ln w="28575">
              <a:solidFill>
                <a:srgbClr val="1E3A5F"/>
              </a:solidFill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1785938" y="1809750"/>
              <a:ext cx="428625" cy="381000"/>
              <a:chOff x="1785938" y="1809750"/>
              <a:chExt cx="428625" cy="3810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1785938" y="1809750"/>
                <a:ext cx="42862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428625" h="190500">
                    <a:moveTo>
                      <a:pt x="0" y="71438"/>
                    </a:moveTo>
                    <a:cubicBezTo>
                      <a:pt x="0" y="31984"/>
                      <a:pt x="31984" y="0"/>
                      <a:pt x="71438" y="0"/>
                    </a:cubicBezTo>
                    <a:lnTo>
                      <a:pt x="357188" y="0"/>
                    </a:lnTo>
                    <a:cubicBezTo>
                      <a:pt x="396641" y="0"/>
                      <a:pt x="428625" y="31984"/>
                      <a:pt x="428625" y="71438"/>
                    </a:cubicBezTo>
                    <a:lnTo>
                      <a:pt x="428625" y="119062"/>
                    </a:lnTo>
                    <a:cubicBezTo>
                      <a:pt x="428625" y="158516"/>
                      <a:pt x="396641" y="190500"/>
                      <a:pt x="357188" y="190500"/>
                    </a:cubicBezTo>
                    <a:lnTo>
                      <a:pt x="71438" y="190500"/>
                    </a:lnTo>
                    <a:cubicBezTo>
                      <a:pt x="31984" y="190500"/>
                      <a:pt x="0" y="158516"/>
                      <a:pt x="0" y="119062"/>
                    </a:cubicBez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785938" y="2000250"/>
                <a:ext cx="42862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428625" h="190500">
                    <a:moveTo>
                      <a:pt x="0" y="71438"/>
                    </a:moveTo>
                    <a:cubicBezTo>
                      <a:pt x="0" y="31984"/>
                      <a:pt x="31984" y="0"/>
                      <a:pt x="71438" y="0"/>
                    </a:cubicBezTo>
                    <a:lnTo>
                      <a:pt x="357188" y="0"/>
                    </a:lnTo>
                    <a:cubicBezTo>
                      <a:pt x="396641" y="0"/>
                      <a:pt x="428625" y="31984"/>
                      <a:pt x="428625" y="71438"/>
                    </a:cubicBezTo>
                    <a:lnTo>
                      <a:pt x="428625" y="119062"/>
                    </a:lnTo>
                    <a:cubicBezTo>
                      <a:pt x="428625" y="158516"/>
                      <a:pt x="396641" y="190500"/>
                      <a:pt x="357188" y="190500"/>
                    </a:cubicBezTo>
                    <a:lnTo>
                      <a:pt x="71438" y="190500"/>
                    </a:lnTo>
                    <a:cubicBezTo>
                      <a:pt x="31984" y="190500"/>
                      <a:pt x="0" y="158516"/>
                      <a:pt x="0" y="119062"/>
                    </a:cubicBezTo>
                    <a:lnTo>
                      <a:pt x="0" y="71438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1881188" y="19050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238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1881188" y="20955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238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886035" y="2407920"/>
              <a:ext cx="2228431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全栈 Web 应用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47274" y="2853690"/>
              <a:ext cx="190595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B0B0C0"/>
                  </a:solidFill>
                  <a:latin typeface="Times New Roman"/>
                  <a:ea typeface="KaiTi"/>
                  <a:cs typeface="Times New Roman"/>
                </a:rPr>
                <a:t>React + Express</a:t>
              </a:r>
            </a:p>
          </p:txBody>
        </p:sp>
        <p:grpSp>
          <p:nvGrpSpPr>
            <p:cNvPr id="24" name="Group 24"/>
            <p:cNvGrpSpPr/>
            <p:nvPr/>
          </p:nvGrpSpPr>
          <p:grpSpPr>
            <a:xfrm>
              <a:off x="3738562" y="2238375"/>
              <a:ext cx="333375" cy="285750"/>
              <a:chOff x="3738562" y="2238375"/>
              <a:chExt cx="333375" cy="28575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3738562" y="2381250"/>
                <a:ext cx="3333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33375" h="9525">
                    <a:moveTo>
                      <a:pt x="0" y="0"/>
                    </a:moveTo>
                    <a:lnTo>
                      <a:pt x="333375" y="0"/>
                    </a:lnTo>
                  </a:path>
                </a:pathLst>
              </a:custGeom>
              <a:noFill/>
              <a:ln w="19050">
                <a:solidFill>
                  <a:srgbClr val="808090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3929062" y="2381250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142875"/>
                    </a:moveTo>
                    <a:lnTo>
                      <a:pt x="142875" y="0"/>
                    </a:lnTo>
                  </a:path>
                </a:pathLst>
              </a:custGeom>
              <a:noFill/>
              <a:ln w="19050">
                <a:solidFill>
                  <a:srgbClr val="808090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3929062" y="2238375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0"/>
                    </a:moveTo>
                    <a:lnTo>
                      <a:pt x="142875" y="142875"/>
                    </a:lnTo>
                  </a:path>
                </a:pathLst>
              </a:custGeom>
              <a:noFill/>
              <a:ln w="19050">
                <a:solidFill>
                  <a:srgbClr val="808090"/>
                </a:solidFill>
              </a:ln>
            </p:spPr>
          </p:sp>
        </p:grpSp>
        <p:sp>
          <p:nvSpPr>
            <p:cNvPr id="25" name="Rectangle 25"/>
            <p:cNvSpPr/>
            <p:nvPr/>
          </p:nvSpPr>
          <p:spPr>
            <a:xfrm>
              <a:off x="4381500" y="1428750"/>
              <a:ext cx="3429000" cy="1905000"/>
            </a:xfrm>
            <a:prstGeom prst="roundRect">
              <a:avLst>
                <a:gd name="adj" fmla="val 8000"/>
              </a:avLst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343305" y="1836420"/>
              <a:ext cx="3505391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全局控制台 Dashboard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734973" y="2377440"/>
              <a:ext cx="272205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核心指标监控 + 日历视图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993005" y="2758440"/>
              <a:ext cx="220599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B0B0C0"/>
                  </a:solidFill>
                  <a:latin typeface="Times New Roman"/>
                  <a:ea typeface="KaiTi"/>
                  <a:cs typeface="Times New Roman"/>
                </a:rPr>
                <a:t>临期预警与合规指数</a:t>
              </a:r>
            </a:p>
          </p:txBody>
        </p:sp>
        <p:grpSp>
          <p:nvGrpSpPr>
            <p:cNvPr id="32" name="Group 32"/>
            <p:cNvGrpSpPr/>
            <p:nvPr/>
          </p:nvGrpSpPr>
          <p:grpSpPr>
            <a:xfrm>
              <a:off x="8120062" y="2238375"/>
              <a:ext cx="333375" cy="285750"/>
              <a:chOff x="8120062" y="2238375"/>
              <a:chExt cx="333375" cy="28575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8120062" y="2381250"/>
                <a:ext cx="3333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33375" h="9525">
                    <a:moveTo>
                      <a:pt x="0" y="0"/>
                    </a:moveTo>
                    <a:lnTo>
                      <a:pt x="333375" y="0"/>
                    </a:lnTo>
                  </a:path>
                </a:pathLst>
              </a:custGeom>
              <a:noFill/>
              <a:ln w="19050">
                <a:solidFill>
                  <a:srgbClr val="808090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310562" y="2381250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142875"/>
                    </a:moveTo>
                    <a:lnTo>
                      <a:pt x="142875" y="0"/>
                    </a:lnTo>
                  </a:path>
                </a:pathLst>
              </a:custGeom>
              <a:noFill/>
              <a:ln w="19050">
                <a:solidFill>
                  <a:srgbClr val="808090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310562" y="2238375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0"/>
                    </a:moveTo>
                    <a:lnTo>
                      <a:pt x="142875" y="142875"/>
                    </a:lnTo>
                  </a:path>
                </a:pathLst>
              </a:custGeom>
              <a:noFill/>
              <a:ln w="19050">
                <a:solidFill>
                  <a:srgbClr val="808090"/>
                </a:solidFill>
              </a:ln>
            </p:spPr>
          </p:sp>
        </p:grpSp>
        <p:sp>
          <p:nvSpPr>
            <p:cNvPr id="33" name="Rectangle 33"/>
            <p:cNvSpPr/>
            <p:nvPr/>
          </p:nvSpPr>
          <p:spPr>
            <a:xfrm>
              <a:off x="8763000" y="1428750"/>
              <a:ext cx="2857500" cy="1905000"/>
            </a:xfrm>
            <a:prstGeom prst="roundRect">
              <a:avLst>
                <a:gd name="adj" fmla="val 8000"/>
              </a:avLst>
            </a:prstGeom>
            <a:solidFill>
              <a:srgbClr val="2A2A38"/>
            </a:solidFill>
            <a:ln w="28575">
              <a:solidFill>
                <a:srgbClr val="00796B"/>
              </a:solidFill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10001250" y="1785938"/>
              <a:ext cx="381000" cy="428624"/>
              <a:chOff x="10001250" y="1785938"/>
              <a:chExt cx="381000" cy="428624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10001250" y="1785938"/>
                <a:ext cx="38100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142875">
                    <a:moveTo>
                      <a:pt x="0" y="71438"/>
                    </a:moveTo>
                    <a:cubicBezTo>
                      <a:pt x="0" y="110891"/>
                      <a:pt x="85290" y="142875"/>
                      <a:pt x="190500" y="142875"/>
                    </a:cubicBezTo>
                    <a:cubicBezTo>
                      <a:pt x="295710" y="142875"/>
                      <a:pt x="381000" y="110891"/>
                      <a:pt x="381000" y="71438"/>
                    </a:cubicBezTo>
                    <a:cubicBezTo>
                      <a:pt x="381000" y="31984"/>
                      <a:pt x="295710" y="0"/>
                      <a:pt x="190500" y="0"/>
                    </a:cubicBezTo>
                    <a:cubicBezTo>
                      <a:pt x="85290" y="0"/>
                      <a:pt x="0" y="31984"/>
                      <a:pt x="0" y="71438"/>
                    </a:cubicBez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10001250" y="1857375"/>
                <a:ext cx="381000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214312">
                    <a:moveTo>
                      <a:pt x="0" y="0"/>
                    </a:moveTo>
                    <a:lnTo>
                      <a:pt x="0" y="142875"/>
                    </a:lnTo>
                    <a:cubicBezTo>
                      <a:pt x="0" y="182329"/>
                      <a:pt x="85290" y="214312"/>
                      <a:pt x="190500" y="214312"/>
                    </a:cubicBezTo>
                    <a:cubicBezTo>
                      <a:pt x="295710" y="214312"/>
                      <a:pt x="381000" y="182329"/>
                      <a:pt x="381000" y="142875"/>
                    </a:cubicBezTo>
                    <a:lnTo>
                      <a:pt x="381000" y="0"/>
                    </a:ln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10001250" y="2000250"/>
                <a:ext cx="381000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214312">
                    <a:moveTo>
                      <a:pt x="0" y="0"/>
                    </a:moveTo>
                    <a:lnTo>
                      <a:pt x="0" y="142875"/>
                    </a:lnTo>
                    <a:cubicBezTo>
                      <a:pt x="0" y="182329"/>
                      <a:pt x="85290" y="214312"/>
                      <a:pt x="190500" y="214312"/>
                    </a:cubicBezTo>
                    <a:cubicBezTo>
                      <a:pt x="295710" y="214312"/>
                      <a:pt x="381000" y="182329"/>
                      <a:pt x="381000" y="142875"/>
                    </a:cubicBezTo>
                    <a:lnTo>
                      <a:pt x="381000" y="0"/>
                    </a:ln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9153144" y="2407920"/>
              <a:ext cx="2077212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飞书多维表格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088755" y="2853690"/>
              <a:ext cx="220599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B0B0C0"/>
                  </a:solidFill>
                  <a:latin typeface="Times New Roman"/>
                  <a:ea typeface="KaiTi"/>
                  <a:cs typeface="Times New Roman"/>
                </a:rPr>
                <a:t>实时读写的核心数据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71500" y="4000500"/>
            <a:ext cx="11049000" cy="1143000"/>
            <a:chOff x="571500" y="4000500"/>
            <a:chExt cx="11049000" cy="1143000"/>
          </a:xfrm>
        </p:grpSpPr>
        <p:sp>
          <p:nvSpPr>
            <p:cNvPr id="41" name="Rectangle 41"/>
            <p:cNvSpPr/>
            <p:nvPr/>
          </p:nvSpPr>
          <p:spPr>
            <a:xfrm>
              <a:off x="571500" y="4000500"/>
              <a:ext cx="11049000" cy="1143000"/>
            </a:xfrm>
            <a:prstGeom prst="roundRect">
              <a:avLst>
                <a:gd name="adj" fmla="val 13333"/>
              </a:avLst>
            </a:prstGeom>
            <a:solidFill>
              <a:srgbClr val="1565C0">
                <a:alpha val="10000"/>
              </a:srgbClr>
            </a:solidFill>
            <a:ln w="19050">
              <a:solidFill>
                <a:srgbClr val="1565C0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1643062" y="4452938"/>
              <a:ext cx="357188" cy="238125"/>
            </a:xfrm>
            <a:custGeom>
              <a:avLst/>
              <a:gdLst/>
              <a:ahLst/>
              <a:cxnLst/>
              <a:rect l="l" t="t" r="r" b="b"/>
              <a:pathLst>
                <a:path w="357188" h="238125">
                  <a:moveTo>
                    <a:pt x="0" y="119062"/>
                  </a:moveTo>
                  <a:lnTo>
                    <a:pt x="119062" y="238125"/>
                  </a:lnTo>
                  <a:lnTo>
                    <a:pt x="357188" y="0"/>
                  </a:lnTo>
                </a:path>
              </a:pathLst>
            </a:custGeom>
            <a:noFill/>
            <a:ln w="19050">
              <a:solidFill>
                <a:srgbClr val="1565C0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714167" y="4375785"/>
              <a:ext cx="8763667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1565C0"/>
                  </a:solidFill>
                  <a:latin typeface="Times New Roman"/>
                  <a:ea typeface="KaiTi"/>
                  <a:cs typeface="Times New Roman"/>
                </a:rPr>
                <a:t>非孤立数据库架构：与企业现有系统和人员无缝协同</a:t>
              </a:r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548640" y="6377940"/>
            <a:ext cx="218198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808090"/>
                </a:solidFill>
                <a:latin typeface="Times New Roman"/>
                <a:ea typeface="KaiTi"/>
                <a:cs typeface="Times New Roman"/>
              </a:rPr>
              <a:t>三会智理 | 路演汇报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1333607" y="6377940"/>
            <a:ext cx="30975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800" dirty="0">
                <a:solidFill>
                  <a:srgbClr val="808090"/>
                </a:solidFill>
                <a:latin typeface="Times New Roman"/>
                <a:ea typeface="KaiTi"/>
                <a:cs typeface="Times New Roman"/>
              </a:rPr>
              <a:t>02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" grpId="0"/>
      <p:bldP spid="40" grpId="0"/>
      <p:bldP spid="44" grpId="0"/>
      <p:bldP spid="45" grpId="0"/>
      <p:bldP spid="4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4"/>
          </a:solidFill>
          <a:ln>
            <a:noFill/>
          </a:ln>
        </p:spPr>
      </p:sp>
      <p:grpSp>
        <p:nvGrpSpPr>
          <p:cNvPr id="10" name="Group 10"/>
          <p:cNvGrpSpPr/>
          <p:nvPr/>
        </p:nvGrpSpPr>
        <p:grpSpPr>
          <a:xfrm>
            <a:off x="571500" y="430530"/>
            <a:ext cx="11049000" cy="731520"/>
            <a:chOff x="571500" y="430530"/>
            <a:chExt cx="11049000" cy="731520"/>
          </a:xfrm>
        </p:grpSpPr>
        <p:grpSp>
          <p:nvGrpSpPr>
            <p:cNvPr id="7" name="Group 7"/>
            <p:cNvGrpSpPr/>
            <p:nvPr/>
          </p:nvGrpSpPr>
          <p:grpSpPr>
            <a:xfrm>
              <a:off x="666750" y="514350"/>
              <a:ext cx="266700" cy="371475"/>
              <a:chOff x="666750" y="514350"/>
              <a:chExt cx="266700" cy="371475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742950" y="514350"/>
                <a:ext cx="114300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209550">
                    <a:moveTo>
                      <a:pt x="0" y="57150"/>
                    </a:moveTo>
                    <a:cubicBezTo>
                      <a:pt x="0" y="25587"/>
                      <a:pt x="25587" y="0"/>
                      <a:pt x="57150" y="0"/>
                    </a:cubicBezTo>
                    <a:cubicBezTo>
                      <a:pt x="88713" y="0"/>
                      <a:pt x="114300" y="25587"/>
                      <a:pt x="114300" y="57150"/>
                    </a:cubicBezTo>
                    <a:lnTo>
                      <a:pt x="114300" y="152400"/>
                    </a:lnTo>
                    <a:cubicBezTo>
                      <a:pt x="114300" y="183963"/>
                      <a:pt x="88713" y="209550"/>
                      <a:pt x="57150" y="209550"/>
                    </a:cubicBezTo>
                    <a:cubicBezTo>
                      <a:pt x="25587" y="209550"/>
                      <a:pt x="0" y="183963"/>
                      <a:pt x="0" y="152400"/>
                    </a:cubicBezTo>
                    <a:lnTo>
                      <a:pt x="0" y="5715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666750" y="666750"/>
                <a:ext cx="26670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33350">
                    <a:moveTo>
                      <a:pt x="0" y="0"/>
                    </a:moveTo>
                    <a:cubicBezTo>
                      <a:pt x="0" y="73647"/>
                      <a:pt x="59703" y="133350"/>
                      <a:pt x="133350" y="133350"/>
                    </a:cubicBezTo>
                    <a:cubicBezTo>
                      <a:pt x="206997" y="133350"/>
                      <a:pt x="266700" y="73647"/>
                      <a:pt x="266700" y="0"/>
                    </a:cubicBez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723900" y="876300"/>
                <a:ext cx="152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9525">
                    <a:moveTo>
                      <a:pt x="0" y="0"/>
                    </a:moveTo>
                    <a:lnTo>
                      <a:pt x="152400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800100" y="800100"/>
                <a:ext cx="95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6200">
                    <a:moveTo>
                      <a:pt x="0" y="0"/>
                    </a:moveTo>
                    <a:lnTo>
                      <a:pt x="0" y="7620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8" name="TextBox 8"/>
            <p:cNvSpPr txBox="1"/>
            <p:nvPr/>
          </p:nvSpPr>
          <p:spPr>
            <a:xfrm>
              <a:off x="1097280" y="430530"/>
              <a:ext cx="7576776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核心功能: 会议管理与录音工作台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571500" y="10477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rgbClr val="3A3A4A"/>
              </a:solidFill>
            </a:ln>
          </p:spPr>
        </p:sp>
      </p:grpSp>
      <p:grpSp>
        <p:nvGrpSpPr>
          <p:cNvPr id="48" name="Group 48"/>
          <p:cNvGrpSpPr/>
          <p:nvPr/>
        </p:nvGrpSpPr>
        <p:grpSpPr>
          <a:xfrm>
            <a:off x="571500" y="1428750"/>
            <a:ext cx="11049000" cy="3333750"/>
            <a:chOff x="571500" y="1428750"/>
            <a:chExt cx="11049000" cy="3333750"/>
          </a:xfrm>
        </p:grpSpPr>
        <p:sp>
          <p:nvSpPr>
            <p:cNvPr id="11" name="Rectangle 11"/>
            <p:cNvSpPr/>
            <p:nvPr/>
          </p:nvSpPr>
          <p:spPr>
            <a:xfrm>
              <a:off x="571500" y="1428750"/>
              <a:ext cx="5143500" cy="3333750"/>
            </a:xfrm>
            <a:prstGeom prst="roundRect">
              <a:avLst>
                <a:gd name="adj" fmla="val 4571"/>
              </a:avLst>
            </a:prstGeom>
            <a:solidFill>
              <a:srgbClr val="2A2A38"/>
            </a:solidFill>
            <a:ln w="28575">
              <a:solidFill>
                <a:srgbClr val="1565C0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974818" y="1708785"/>
              <a:ext cx="233686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会议管理模块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1047750" y="2286000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19050">
              <a:solidFill>
                <a:srgbClr val="3A3A4A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023938" y="2671762"/>
              <a:ext cx="214312" cy="142875"/>
            </a:xfrm>
            <a:custGeom>
              <a:avLst/>
              <a:gdLst/>
              <a:ahLst/>
              <a:cxnLst/>
              <a:rect l="l" t="t" r="r" b="b"/>
              <a:pathLst>
                <a:path w="214312" h="142875">
                  <a:moveTo>
                    <a:pt x="0" y="71438"/>
                  </a:moveTo>
                  <a:lnTo>
                    <a:pt x="71438" y="142875"/>
                  </a:lnTo>
                  <a:lnTo>
                    <a:pt x="214312" y="0"/>
                  </a:lnTo>
                </a:path>
              </a:pathLst>
            </a:custGeom>
            <a:noFill/>
            <a:ln w="19050">
              <a:solidFill>
                <a:srgbClr val="00796B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405890" y="2615565"/>
              <a:ext cx="370617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自动提示法定门槛 (如10%提议权)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1023938" y="3243262"/>
              <a:ext cx="214312" cy="142875"/>
            </a:xfrm>
            <a:custGeom>
              <a:avLst/>
              <a:gdLst/>
              <a:ahLst/>
              <a:cxnLst/>
              <a:rect l="l" t="t" r="r" b="b"/>
              <a:pathLst>
                <a:path w="214312" h="142875">
                  <a:moveTo>
                    <a:pt x="0" y="71438"/>
                  </a:moveTo>
                  <a:lnTo>
                    <a:pt x="71438" y="142875"/>
                  </a:lnTo>
                  <a:lnTo>
                    <a:pt x="214312" y="0"/>
                  </a:lnTo>
                </a:path>
              </a:pathLst>
            </a:custGeom>
            <a:noFill/>
            <a:ln w="19050">
              <a:solidFill>
                <a:srgbClr val="00796B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405890" y="3187065"/>
              <a:ext cx="268605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与会人员智能排序与标记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1023938" y="3814762"/>
              <a:ext cx="214312" cy="142875"/>
            </a:xfrm>
            <a:custGeom>
              <a:avLst/>
              <a:gdLst/>
              <a:ahLst/>
              <a:cxnLst/>
              <a:rect l="l" t="t" r="r" b="b"/>
              <a:pathLst>
                <a:path w="214312" h="142875">
                  <a:moveTo>
                    <a:pt x="0" y="71438"/>
                  </a:moveTo>
                  <a:lnTo>
                    <a:pt x="71438" y="142875"/>
                  </a:lnTo>
                  <a:lnTo>
                    <a:pt x="214312" y="0"/>
                  </a:lnTo>
                </a:path>
              </a:pathLst>
            </a:custGeom>
            <a:noFill/>
            <a:ln w="19050">
              <a:solidFill>
                <a:srgbClr val="00796B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405890" y="3758565"/>
              <a:ext cx="316611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数据容错存盘，防缺失与丢失</a:t>
              </a:r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5929312" y="2952750"/>
              <a:ext cx="333375" cy="285750"/>
              <a:chOff x="5929312" y="2952750"/>
              <a:chExt cx="333375" cy="28575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5929312" y="3095625"/>
                <a:ext cx="3333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33375" h="9525">
                    <a:moveTo>
                      <a:pt x="0" y="0"/>
                    </a:moveTo>
                    <a:lnTo>
                      <a:pt x="333375" y="0"/>
                    </a:lnTo>
                  </a:path>
                </a:pathLst>
              </a:custGeom>
              <a:noFill/>
              <a:ln w="19050">
                <a:solidFill>
                  <a:srgbClr val="808090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6119812" y="3095625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142875"/>
                    </a:moveTo>
                    <a:lnTo>
                      <a:pt x="142875" y="0"/>
                    </a:lnTo>
                  </a:path>
                </a:pathLst>
              </a:custGeom>
              <a:noFill/>
              <a:ln w="19050">
                <a:solidFill>
                  <a:srgbClr val="808090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6119812" y="2952750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0"/>
                    </a:moveTo>
                    <a:lnTo>
                      <a:pt x="142875" y="142875"/>
                    </a:lnTo>
                  </a:path>
                </a:pathLst>
              </a:custGeom>
              <a:noFill/>
              <a:ln w="19050">
                <a:solidFill>
                  <a:srgbClr val="808090"/>
                </a:solidFill>
              </a:ln>
            </p:spPr>
          </p:sp>
        </p:grpSp>
        <p:sp>
          <p:nvSpPr>
            <p:cNvPr id="24" name="Rectangle 24"/>
            <p:cNvSpPr/>
            <p:nvPr/>
          </p:nvSpPr>
          <p:spPr>
            <a:xfrm>
              <a:off x="6477000" y="1428750"/>
              <a:ext cx="5143500" cy="3333750"/>
            </a:xfrm>
            <a:prstGeom prst="roundRect">
              <a:avLst>
                <a:gd name="adj" fmla="val 4571"/>
              </a:avLst>
            </a:prstGeom>
            <a:solidFill>
              <a:srgbClr val="2A2A38"/>
            </a:solidFill>
            <a:ln w="28575">
              <a:solidFill>
                <a:srgbClr val="D4AF37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069342" y="1708785"/>
              <a:ext cx="195881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录音工作台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6953250" y="2286000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19050">
              <a:solidFill>
                <a:srgbClr val="3A3A4A"/>
              </a:solidFill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6929438" y="2600325"/>
              <a:ext cx="200025" cy="280988"/>
              <a:chOff x="6929438" y="2600325"/>
              <a:chExt cx="200025" cy="280988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6986588" y="2600325"/>
                <a:ext cx="85725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157162">
                    <a:moveTo>
                      <a:pt x="0" y="42862"/>
                    </a:moveTo>
                    <a:cubicBezTo>
                      <a:pt x="0" y="19190"/>
                      <a:pt x="19190" y="0"/>
                      <a:pt x="42862" y="0"/>
                    </a:cubicBezTo>
                    <a:cubicBezTo>
                      <a:pt x="66535" y="0"/>
                      <a:pt x="85725" y="19190"/>
                      <a:pt x="85725" y="42862"/>
                    </a:cubicBezTo>
                    <a:lnTo>
                      <a:pt x="85725" y="114300"/>
                    </a:lnTo>
                    <a:cubicBezTo>
                      <a:pt x="85725" y="137972"/>
                      <a:pt x="66535" y="157162"/>
                      <a:pt x="42862" y="157162"/>
                    </a:cubicBezTo>
                    <a:cubicBezTo>
                      <a:pt x="19190" y="157162"/>
                      <a:pt x="0" y="137972"/>
                      <a:pt x="0" y="114300"/>
                    </a:cubicBezTo>
                    <a:lnTo>
                      <a:pt x="0" y="42862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6929438" y="2714625"/>
                <a:ext cx="200025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100012">
                    <a:moveTo>
                      <a:pt x="0" y="0"/>
                    </a:moveTo>
                    <a:cubicBezTo>
                      <a:pt x="0" y="55235"/>
                      <a:pt x="44777" y="100012"/>
                      <a:pt x="100012" y="100012"/>
                    </a:cubicBezTo>
                    <a:cubicBezTo>
                      <a:pt x="155248" y="100012"/>
                      <a:pt x="200025" y="55235"/>
                      <a:pt x="200025" y="0"/>
                    </a:cubicBez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6972300" y="2871788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7029450" y="2814638"/>
                <a:ext cx="95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">
                    <a:moveTo>
                      <a:pt x="0" y="0"/>
                    </a:moveTo>
                    <a:lnTo>
                      <a:pt x="0" y="57150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7311390" y="2615565"/>
              <a:ext cx="298608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集成飞书妙记 ASR 语音转写</a:t>
              </a:r>
            </a:p>
          </p:txBody>
        </p:sp>
        <p:grpSp>
          <p:nvGrpSpPr>
            <p:cNvPr id="39" name="Group 39"/>
            <p:cNvGrpSpPr/>
            <p:nvPr/>
          </p:nvGrpSpPr>
          <p:grpSpPr>
            <a:xfrm>
              <a:off x="6915150" y="3200400"/>
              <a:ext cx="228600" cy="228600"/>
              <a:chOff x="6915150" y="3200400"/>
              <a:chExt cx="228600" cy="2286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6972300" y="3257550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0"/>
                    </a:moveTo>
                    <a:lnTo>
                      <a:pt x="114300" y="0"/>
                    </a:lnTo>
                    <a:lnTo>
                      <a:pt x="114300" y="114300"/>
                    </a:lnTo>
                    <a:lnTo>
                      <a:pt x="0" y="114300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6915150" y="320040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28575"/>
                    </a:moveTo>
                    <a:cubicBezTo>
                      <a:pt x="0" y="12793"/>
                      <a:pt x="12793" y="0"/>
                      <a:pt x="28575" y="0"/>
                    </a:cubicBezTo>
                    <a:lnTo>
                      <a:pt x="200025" y="0"/>
                    </a:lnTo>
                    <a:cubicBezTo>
                      <a:pt x="215807" y="0"/>
                      <a:pt x="228600" y="12793"/>
                      <a:pt x="228600" y="28575"/>
                    </a:cubicBezTo>
                    <a:lnTo>
                      <a:pt x="228600" y="200025"/>
                    </a:lnTo>
                    <a:cubicBezTo>
                      <a:pt x="228600" y="215807"/>
                      <a:pt x="215807" y="228600"/>
                      <a:pt x="200025" y="228600"/>
                    </a:cubicBezTo>
                    <a:lnTo>
                      <a:pt x="28575" y="228600"/>
                    </a:lnTo>
                    <a:cubicBezTo>
                      <a:pt x="12793" y="228600"/>
                      <a:pt x="0" y="215807"/>
                      <a:pt x="0" y="200025"/>
                    </a:cubicBezTo>
                    <a:lnTo>
                      <a:pt x="0" y="28575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086600" y="3371850"/>
                <a:ext cx="47149" cy="47149"/>
              </a:xfrm>
              <a:custGeom>
                <a:avLst/>
                <a:gdLst/>
                <a:ahLst/>
                <a:cxnLst/>
                <a:rect l="l" t="t" r="r" b="b"/>
                <a:pathLst>
                  <a:path w="47149" h="47149">
                    <a:moveTo>
                      <a:pt x="0" y="0"/>
                    </a:moveTo>
                    <a:lnTo>
                      <a:pt x="47149" y="47149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7086600" y="3210401"/>
                <a:ext cx="47149" cy="47149"/>
              </a:xfrm>
              <a:custGeom>
                <a:avLst/>
                <a:gdLst/>
                <a:ahLst/>
                <a:cxnLst/>
                <a:rect l="l" t="t" r="r" b="b"/>
                <a:pathLst>
                  <a:path w="47149" h="47149">
                    <a:moveTo>
                      <a:pt x="0" y="47149"/>
                    </a:moveTo>
                    <a:lnTo>
                      <a:pt x="47149" y="0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925151" y="3210401"/>
                <a:ext cx="47149" cy="47149"/>
              </a:xfrm>
              <a:custGeom>
                <a:avLst/>
                <a:gdLst/>
                <a:ahLst/>
                <a:cxnLst/>
                <a:rect l="l" t="t" r="r" b="b"/>
                <a:pathLst>
                  <a:path w="47149" h="47149">
                    <a:moveTo>
                      <a:pt x="47149" y="47149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925151" y="3371850"/>
                <a:ext cx="47149" cy="47149"/>
              </a:xfrm>
              <a:custGeom>
                <a:avLst/>
                <a:gdLst/>
                <a:ahLst/>
                <a:cxnLst/>
                <a:rect l="l" t="t" r="r" b="b"/>
                <a:pathLst>
                  <a:path w="47149" h="47149">
                    <a:moveTo>
                      <a:pt x="47149" y="0"/>
                    </a:moveTo>
                    <a:lnTo>
                      <a:pt x="0" y="47149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7311390" y="3187065"/>
              <a:ext cx="316611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识别文本与议案自动关联对齐</a:t>
              </a:r>
            </a:p>
          </p:txBody>
        </p:sp>
        <p:grpSp>
          <p:nvGrpSpPr>
            <p:cNvPr id="46" name="Group 46"/>
            <p:cNvGrpSpPr/>
            <p:nvPr/>
          </p:nvGrpSpPr>
          <p:grpSpPr>
            <a:xfrm>
              <a:off x="6929438" y="3757612"/>
              <a:ext cx="200025" cy="257175"/>
              <a:chOff x="6929438" y="3757612"/>
              <a:chExt cx="200025" cy="257175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7058025" y="3757612"/>
                <a:ext cx="714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71438">
                    <a:moveTo>
                      <a:pt x="0" y="0"/>
                    </a:moveTo>
                    <a:lnTo>
                      <a:pt x="0" y="57150"/>
                    </a:lnTo>
                    <a:cubicBezTo>
                      <a:pt x="0" y="65041"/>
                      <a:pt x="6397" y="71438"/>
                      <a:pt x="14288" y="71438"/>
                    </a:cubicBezTo>
                    <a:lnTo>
                      <a:pt x="71438" y="71438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929438" y="3757612"/>
                <a:ext cx="20002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57175">
                    <a:moveTo>
                      <a:pt x="171450" y="257175"/>
                    </a:moveTo>
                    <a:lnTo>
                      <a:pt x="28575" y="257175"/>
                    </a:lnTo>
                    <a:cubicBezTo>
                      <a:pt x="12793" y="257175"/>
                      <a:pt x="0" y="244382"/>
                      <a:pt x="0" y="228600"/>
                    </a:cubicBezTo>
                    <a:lnTo>
                      <a:pt x="0" y="28575"/>
                    </a:lnTo>
                    <a:cubicBezTo>
                      <a:pt x="0" y="12793"/>
                      <a:pt x="12793" y="0"/>
                      <a:pt x="28575" y="0"/>
                    </a:cubicBezTo>
                    <a:lnTo>
                      <a:pt x="128588" y="0"/>
                    </a:lnTo>
                    <a:lnTo>
                      <a:pt x="200025" y="71438"/>
                    </a:lnTo>
                    <a:lnTo>
                      <a:pt x="200025" y="228600"/>
                    </a:lnTo>
                    <a:cubicBezTo>
                      <a:pt x="200025" y="244382"/>
                      <a:pt x="187232" y="257175"/>
                      <a:pt x="171450" y="257175"/>
                    </a:cubicBez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986588" y="3843338"/>
                <a:ext cx="142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288" h="9525">
                    <a:moveTo>
                      <a:pt x="0" y="0"/>
                    </a:moveTo>
                    <a:lnTo>
                      <a:pt x="14288" y="0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986588" y="3900488"/>
                <a:ext cx="857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9525">
                    <a:moveTo>
                      <a:pt x="0" y="0"/>
                    </a:moveTo>
                    <a:lnTo>
                      <a:pt x="85725" y="0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6986588" y="3957638"/>
                <a:ext cx="857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9525">
                    <a:moveTo>
                      <a:pt x="0" y="0"/>
                    </a:moveTo>
                    <a:lnTo>
                      <a:pt x="85725" y="0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7311390" y="3758565"/>
              <a:ext cx="381419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在线预览排版，一键导出国标 Word</a:t>
              </a:r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548640" y="6377940"/>
            <a:ext cx="218198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808090"/>
                </a:solidFill>
                <a:latin typeface="Times New Roman"/>
                <a:ea typeface="KaiTi"/>
                <a:cs typeface="Times New Roman"/>
              </a:rPr>
              <a:t>三会智理 | 路演汇报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1333607" y="6377940"/>
            <a:ext cx="30975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800" dirty="0">
                <a:solidFill>
                  <a:srgbClr val="808090"/>
                </a:solidFill>
                <a:latin typeface="Times New Roman"/>
                <a:ea typeface="KaiTi"/>
                <a:cs typeface="Times New Roman"/>
              </a:rPr>
              <a:t>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  <p:bldP spid="48" grpId="0"/>
      <p:bldP spid="49" grpId="0"/>
      <p:bldP spid="5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4"/>
          </a:solidFill>
          <a:ln>
            <a:noFill/>
          </a:ln>
        </p:spPr>
      </p:sp>
      <p:grpSp>
        <p:nvGrpSpPr>
          <p:cNvPr id="11" name="Group 11"/>
          <p:cNvGrpSpPr/>
          <p:nvPr/>
        </p:nvGrpSpPr>
        <p:grpSpPr>
          <a:xfrm>
            <a:off x="571500" y="430530"/>
            <a:ext cx="11049000" cy="731520"/>
            <a:chOff x="571500" y="430530"/>
            <a:chExt cx="11049000" cy="731520"/>
          </a:xfrm>
        </p:grpSpPr>
        <p:grpSp>
          <p:nvGrpSpPr>
            <p:cNvPr id="8" name="Group 8"/>
            <p:cNvGrpSpPr/>
            <p:nvPr/>
          </p:nvGrpSpPr>
          <p:grpSpPr>
            <a:xfrm>
              <a:off x="666750" y="533400"/>
              <a:ext cx="266700" cy="342900"/>
              <a:chOff x="666750" y="533400"/>
              <a:chExt cx="266700" cy="342900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838200" y="533400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0"/>
                    </a:moveTo>
                    <a:lnTo>
                      <a:pt x="0" y="76200"/>
                    </a:lnTo>
                    <a:cubicBezTo>
                      <a:pt x="0" y="86721"/>
                      <a:pt x="8529" y="95250"/>
                      <a:pt x="19050" y="95250"/>
                    </a:cubicBezTo>
                    <a:lnTo>
                      <a:pt x="95250" y="9525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666750" y="533400"/>
                <a:ext cx="2667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342900">
                    <a:moveTo>
                      <a:pt x="228600" y="342900"/>
                    </a:moveTo>
                    <a:lnTo>
                      <a:pt x="38100" y="342900"/>
                    </a:lnTo>
                    <a:cubicBezTo>
                      <a:pt x="17058" y="342900"/>
                      <a:pt x="0" y="325842"/>
                      <a:pt x="0" y="3048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lnTo>
                      <a:pt x="171450" y="0"/>
                    </a:lnTo>
                    <a:lnTo>
                      <a:pt x="266700" y="95250"/>
                    </a:lnTo>
                    <a:lnTo>
                      <a:pt x="266700" y="304800"/>
                    </a:lnTo>
                    <a:cubicBezTo>
                      <a:pt x="266700" y="325842"/>
                      <a:pt x="249642" y="342900"/>
                      <a:pt x="228600" y="342900"/>
                    </a:cubicBez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742950" y="647700"/>
                <a:ext cx="190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9525">
                    <a:moveTo>
                      <a:pt x="0" y="0"/>
                    </a:moveTo>
                    <a:lnTo>
                      <a:pt x="19050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742950" y="723900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742950" y="800100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9" name="TextBox 9"/>
            <p:cNvSpPr txBox="1"/>
            <p:nvPr/>
          </p:nvSpPr>
          <p:spPr>
            <a:xfrm>
              <a:off x="1097280" y="430530"/>
              <a:ext cx="5636133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文书中心与与会人员管理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571500" y="10477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rgbClr val="3A3A4A"/>
              </a:solidFill>
            </a:ln>
          </p:spPr>
        </p:sp>
      </p:grpSp>
      <p:grpSp>
        <p:nvGrpSpPr>
          <p:cNvPr id="36" name="Group 36"/>
          <p:cNvGrpSpPr/>
          <p:nvPr/>
        </p:nvGrpSpPr>
        <p:grpSpPr>
          <a:xfrm>
            <a:off x="571500" y="1428750"/>
            <a:ext cx="11049000" cy="3333750"/>
            <a:chOff x="571500" y="1428750"/>
            <a:chExt cx="11049000" cy="3333750"/>
          </a:xfrm>
        </p:grpSpPr>
        <p:sp>
          <p:nvSpPr>
            <p:cNvPr id="12" name="Rectangle 12"/>
            <p:cNvSpPr/>
            <p:nvPr/>
          </p:nvSpPr>
          <p:spPr>
            <a:xfrm>
              <a:off x="571500" y="1428750"/>
              <a:ext cx="5143500" cy="3333750"/>
            </a:xfrm>
            <a:prstGeom prst="roundRect">
              <a:avLst>
                <a:gd name="adj" fmla="val 4571"/>
              </a:avLst>
            </a:prstGeom>
            <a:solidFill>
              <a:srgbClr val="2A2A38"/>
            </a:solidFill>
            <a:ln w="28575">
              <a:solidFill>
                <a:srgbClr val="1565C0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54091" y="1708785"/>
              <a:ext cx="437831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文书中心 (一键打包成卷)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1047750" y="2286000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19050">
              <a:solidFill>
                <a:srgbClr val="3A3A4A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023938" y="2671762"/>
              <a:ext cx="214312" cy="142875"/>
            </a:xfrm>
            <a:custGeom>
              <a:avLst/>
              <a:gdLst/>
              <a:ahLst/>
              <a:cxnLst/>
              <a:rect l="l" t="t" r="r" b="b"/>
              <a:pathLst>
                <a:path w="214312" h="142875">
                  <a:moveTo>
                    <a:pt x="0" y="71438"/>
                  </a:moveTo>
                  <a:lnTo>
                    <a:pt x="71438" y="142875"/>
                  </a:lnTo>
                  <a:lnTo>
                    <a:pt x="214312" y="0"/>
                  </a:lnTo>
                </a:path>
              </a:pathLst>
            </a:custGeom>
            <a:noFill/>
            <a:ln w="19050">
              <a:solidFill>
                <a:srgbClr val="00796B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405890" y="2615565"/>
              <a:ext cx="34061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涵盖会议通知、议程、签到表等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1023938" y="3243262"/>
              <a:ext cx="214312" cy="142875"/>
            </a:xfrm>
            <a:custGeom>
              <a:avLst/>
              <a:gdLst/>
              <a:ahLst/>
              <a:cxnLst/>
              <a:rect l="l" t="t" r="r" b="b"/>
              <a:pathLst>
                <a:path w="214312" h="142875">
                  <a:moveTo>
                    <a:pt x="0" y="71438"/>
                  </a:moveTo>
                  <a:lnTo>
                    <a:pt x="71438" y="142875"/>
                  </a:lnTo>
                  <a:lnTo>
                    <a:pt x="214312" y="0"/>
                  </a:lnTo>
                </a:path>
              </a:pathLst>
            </a:custGeom>
            <a:noFill/>
            <a:ln w="19050">
              <a:solidFill>
                <a:srgbClr val="00796B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405890" y="3187065"/>
              <a:ext cx="316611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支持在线编辑与实时预览导出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1023938" y="3814762"/>
              <a:ext cx="214312" cy="142875"/>
            </a:xfrm>
            <a:custGeom>
              <a:avLst/>
              <a:gdLst/>
              <a:ahLst/>
              <a:cxnLst/>
              <a:rect l="l" t="t" r="r" b="b"/>
              <a:pathLst>
                <a:path w="214312" h="142875">
                  <a:moveTo>
                    <a:pt x="0" y="71438"/>
                  </a:moveTo>
                  <a:lnTo>
                    <a:pt x="71438" y="142875"/>
                  </a:lnTo>
                  <a:lnTo>
                    <a:pt x="214312" y="0"/>
                  </a:lnTo>
                </a:path>
              </a:pathLst>
            </a:custGeom>
            <a:noFill/>
            <a:ln w="19050">
              <a:solidFill>
                <a:srgbClr val="00796B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405890" y="3758565"/>
              <a:ext cx="415023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匹配法定数量：股东会9份，董监会6份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477000" y="1428750"/>
              <a:ext cx="5143500" cy="3333750"/>
            </a:xfrm>
            <a:prstGeom prst="roundRect">
              <a:avLst>
                <a:gd name="adj" fmla="val 4571"/>
              </a:avLst>
            </a:prstGeom>
            <a:solidFill>
              <a:srgbClr val="2A2A38"/>
            </a:solidFill>
            <a:ln w="28575">
              <a:solidFill>
                <a:srgbClr val="00796B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880318" y="1708785"/>
              <a:ext cx="233686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与会人员矩阵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6953250" y="2286000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19050">
              <a:solidFill>
                <a:srgbClr val="3A3A4A"/>
              </a:solidFill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6881581" y="2614612"/>
              <a:ext cx="279010" cy="257176"/>
              <a:chOff x="6881581" y="2614612"/>
              <a:chExt cx="279010" cy="257176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6881581" y="2614612"/>
                <a:ext cx="279010" cy="254975"/>
              </a:xfrm>
              <a:custGeom>
                <a:avLst/>
                <a:gdLst/>
                <a:ahLst/>
                <a:cxnLst/>
                <a:rect l="l" t="t" r="r" b="b"/>
                <a:pathLst>
                  <a:path w="279010" h="254975">
                    <a:moveTo>
                      <a:pt x="140154" y="254975"/>
                    </a:moveTo>
                    <a:cubicBezTo>
                      <a:pt x="50649" y="227230"/>
                      <a:pt x="0" y="132765"/>
                      <a:pt x="26425" y="42862"/>
                    </a:cubicBezTo>
                    <a:cubicBezTo>
                      <a:pt x="70939" y="44899"/>
                      <a:pt x="114496" y="29526"/>
                      <a:pt x="147869" y="0"/>
                    </a:cubicBezTo>
                    <a:cubicBezTo>
                      <a:pt x="181242" y="29526"/>
                      <a:pt x="224800" y="44899"/>
                      <a:pt x="269313" y="42862"/>
                    </a:cubicBezTo>
                    <a:cubicBezTo>
                      <a:pt x="279010" y="75854"/>
                      <a:pt x="278561" y="110999"/>
                      <a:pt x="268027" y="143732"/>
                    </a:cubicBez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7072312" y="2814638"/>
                <a:ext cx="857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57150">
                    <a:moveTo>
                      <a:pt x="0" y="28575"/>
                    </a:moveTo>
                    <a:lnTo>
                      <a:pt x="28575" y="57150"/>
                    </a:lnTo>
                    <a:lnTo>
                      <a:pt x="85725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7311390" y="2615565"/>
              <a:ext cx="364617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全景化董监高及股东持股任职信息</a:t>
              </a:r>
            </a:p>
          </p:txBody>
        </p:sp>
        <p:grpSp>
          <p:nvGrpSpPr>
            <p:cNvPr id="30" name="Group 30"/>
            <p:cNvGrpSpPr/>
            <p:nvPr/>
          </p:nvGrpSpPr>
          <p:grpSpPr>
            <a:xfrm>
              <a:off x="6881581" y="3186112"/>
              <a:ext cx="279010" cy="257176"/>
              <a:chOff x="6881581" y="3186112"/>
              <a:chExt cx="279010" cy="257176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6881581" y="3186112"/>
                <a:ext cx="279010" cy="254975"/>
              </a:xfrm>
              <a:custGeom>
                <a:avLst/>
                <a:gdLst/>
                <a:ahLst/>
                <a:cxnLst/>
                <a:rect l="l" t="t" r="r" b="b"/>
                <a:pathLst>
                  <a:path w="279010" h="254975">
                    <a:moveTo>
                      <a:pt x="140154" y="254975"/>
                    </a:moveTo>
                    <a:cubicBezTo>
                      <a:pt x="50649" y="227230"/>
                      <a:pt x="0" y="132765"/>
                      <a:pt x="26425" y="42862"/>
                    </a:cubicBezTo>
                    <a:cubicBezTo>
                      <a:pt x="70939" y="44899"/>
                      <a:pt x="114496" y="29526"/>
                      <a:pt x="147869" y="0"/>
                    </a:cubicBezTo>
                    <a:cubicBezTo>
                      <a:pt x="181242" y="29526"/>
                      <a:pt x="224800" y="44899"/>
                      <a:pt x="269313" y="42862"/>
                    </a:cubicBezTo>
                    <a:cubicBezTo>
                      <a:pt x="279010" y="75854"/>
                      <a:pt x="278561" y="110999"/>
                      <a:pt x="268027" y="143732"/>
                    </a:cubicBez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7072312" y="3386138"/>
                <a:ext cx="857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57150">
                    <a:moveTo>
                      <a:pt x="0" y="28575"/>
                    </a:moveTo>
                    <a:lnTo>
                      <a:pt x="28575" y="57150"/>
                    </a:lnTo>
                    <a:lnTo>
                      <a:pt x="85725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7311390" y="3187065"/>
              <a:ext cx="399421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自动化底线合规：独董占比 33% 校验</a:t>
              </a:r>
            </a:p>
          </p:txBody>
        </p:sp>
        <p:grpSp>
          <p:nvGrpSpPr>
            <p:cNvPr id="34" name="Group 34"/>
            <p:cNvGrpSpPr/>
            <p:nvPr/>
          </p:nvGrpSpPr>
          <p:grpSpPr>
            <a:xfrm>
              <a:off x="6881581" y="3757612"/>
              <a:ext cx="279010" cy="257176"/>
              <a:chOff x="6881581" y="3757612"/>
              <a:chExt cx="279010" cy="257176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6881581" y="3757612"/>
                <a:ext cx="279010" cy="254975"/>
              </a:xfrm>
              <a:custGeom>
                <a:avLst/>
                <a:gdLst/>
                <a:ahLst/>
                <a:cxnLst/>
                <a:rect l="l" t="t" r="r" b="b"/>
                <a:pathLst>
                  <a:path w="279010" h="254975">
                    <a:moveTo>
                      <a:pt x="140154" y="254975"/>
                    </a:moveTo>
                    <a:cubicBezTo>
                      <a:pt x="50649" y="227230"/>
                      <a:pt x="0" y="132765"/>
                      <a:pt x="26425" y="42862"/>
                    </a:cubicBezTo>
                    <a:cubicBezTo>
                      <a:pt x="70939" y="44899"/>
                      <a:pt x="114496" y="29526"/>
                      <a:pt x="147869" y="0"/>
                    </a:cubicBezTo>
                    <a:cubicBezTo>
                      <a:pt x="181242" y="29526"/>
                      <a:pt x="224800" y="44899"/>
                      <a:pt x="269313" y="42862"/>
                    </a:cubicBezTo>
                    <a:cubicBezTo>
                      <a:pt x="279010" y="75854"/>
                      <a:pt x="278561" y="110999"/>
                      <a:pt x="268027" y="143732"/>
                    </a:cubicBez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7072312" y="3957638"/>
                <a:ext cx="857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57150">
                    <a:moveTo>
                      <a:pt x="0" y="28575"/>
                    </a:moveTo>
                    <a:lnTo>
                      <a:pt x="28575" y="57150"/>
                    </a:lnTo>
                    <a:lnTo>
                      <a:pt x="85725" y="0"/>
                    </a:lnTo>
                  </a:path>
                </a:pathLst>
              </a:custGeom>
              <a:noFill/>
              <a:ln w="19050">
                <a:solidFill>
                  <a:srgbClr val="1565C0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7311390" y="3758565"/>
              <a:ext cx="364617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任期兼职互斥自动拦截与到期预警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548640" y="6377940"/>
            <a:ext cx="218198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808090"/>
                </a:solidFill>
                <a:latin typeface="Times New Roman"/>
                <a:ea typeface="KaiTi"/>
                <a:cs typeface="Times New Roman"/>
              </a:rPr>
              <a:t>三会智理 | 路演汇报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333607" y="6377940"/>
            <a:ext cx="30975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800" dirty="0">
                <a:solidFill>
                  <a:srgbClr val="808090"/>
                </a:solidFill>
                <a:latin typeface="Times New Roman"/>
                <a:ea typeface="KaiTi"/>
                <a:cs typeface="Times New Roman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/>
      <p:bldP spid="36" grpId="0"/>
      <p:bldP spid="37" grpId="0"/>
      <p:bldP spid="3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4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71500" y="430530"/>
            <a:ext cx="11049000" cy="731520"/>
            <a:chOff x="571500" y="430530"/>
            <a:chExt cx="11049000" cy="731520"/>
          </a:xfrm>
        </p:grpSpPr>
        <p:grpSp>
          <p:nvGrpSpPr>
            <p:cNvPr id="5" name="Group 5"/>
            <p:cNvGrpSpPr/>
            <p:nvPr/>
          </p:nvGrpSpPr>
          <p:grpSpPr>
            <a:xfrm>
              <a:off x="602941" y="533400"/>
              <a:ext cx="372013" cy="342900"/>
              <a:chOff x="602941" y="533400"/>
              <a:chExt cx="372013" cy="342900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602941" y="533400"/>
                <a:ext cx="372013" cy="339966"/>
              </a:xfrm>
              <a:custGeom>
                <a:avLst/>
                <a:gdLst/>
                <a:ahLst/>
                <a:cxnLst/>
                <a:rect l="l" t="t" r="r" b="b"/>
                <a:pathLst>
                  <a:path w="372013" h="339966">
                    <a:moveTo>
                      <a:pt x="186872" y="339966"/>
                    </a:moveTo>
                    <a:cubicBezTo>
                      <a:pt x="67532" y="302974"/>
                      <a:pt x="0" y="177021"/>
                      <a:pt x="35234" y="57150"/>
                    </a:cubicBezTo>
                    <a:cubicBezTo>
                      <a:pt x="94585" y="59866"/>
                      <a:pt x="152661" y="39368"/>
                      <a:pt x="197159" y="0"/>
                    </a:cubicBezTo>
                    <a:cubicBezTo>
                      <a:pt x="241657" y="39368"/>
                      <a:pt x="299733" y="59866"/>
                      <a:pt x="359084" y="57150"/>
                    </a:cubicBezTo>
                    <a:cubicBezTo>
                      <a:pt x="372013" y="101139"/>
                      <a:pt x="371415" y="147998"/>
                      <a:pt x="357369" y="191643"/>
                    </a:cubicBezTo>
                  </a:path>
                </a:pathLst>
              </a:custGeom>
              <a:noFill/>
              <a:ln w="19050">
                <a:solidFill>
                  <a:srgbClr val="C41E3A"/>
                </a:solidFill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857250" y="800100"/>
                <a:ext cx="1143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76200">
                    <a:moveTo>
                      <a:pt x="0" y="38100"/>
                    </a:moveTo>
                    <a:lnTo>
                      <a:pt x="38100" y="76200"/>
                    </a:lnTo>
                    <a:lnTo>
                      <a:pt x="114300" y="0"/>
                    </a:lnTo>
                  </a:path>
                </a:pathLst>
              </a:custGeom>
              <a:noFill/>
              <a:ln w="19050">
                <a:solidFill>
                  <a:srgbClr val="C41E3A"/>
                </a:solidFill>
              </a:ln>
            </p:spPr>
          </p:sp>
        </p:grpSp>
        <p:sp>
          <p:nvSpPr>
            <p:cNvPr id="6" name="TextBox 6"/>
            <p:cNvSpPr txBox="1"/>
            <p:nvPr/>
          </p:nvSpPr>
          <p:spPr>
            <a:xfrm>
              <a:off x="1097280" y="430530"/>
              <a:ext cx="9088965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核心壁垒: 透明可追溯的合规双通道审查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571500" y="10477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rgbClr val="3A3A4A"/>
              </a:solidFill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571500" y="1428750"/>
            <a:ext cx="11049000" cy="4762500"/>
            <a:chOff x="571500" y="1428750"/>
            <a:chExt cx="11049000" cy="4762500"/>
          </a:xfrm>
        </p:grpSpPr>
        <p:sp>
          <p:nvSpPr>
            <p:cNvPr id="9" name="Rectangle 9"/>
            <p:cNvSpPr/>
            <p:nvPr/>
          </p:nvSpPr>
          <p:spPr>
            <a:xfrm>
              <a:off x="571500" y="1428750"/>
              <a:ext cx="5143500" cy="2381250"/>
            </a:xfrm>
            <a:prstGeom prst="roundRect">
              <a:avLst>
                <a:gd name="adj" fmla="val 6400"/>
              </a:avLst>
            </a:prstGeom>
            <a:solidFill>
              <a:srgbClr val="1E3A5F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2952750" y="1714500"/>
              <a:ext cx="381000" cy="381000"/>
              <a:chOff x="2952750" y="1714500"/>
              <a:chExt cx="381000" cy="3810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3048000" y="1809750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0" y="0"/>
                    </a:moveTo>
                    <a:lnTo>
                      <a:pt x="190500" y="0"/>
                    </a:lnTo>
                    <a:lnTo>
                      <a:pt x="190500" y="190500"/>
                    </a:lnTo>
                    <a:lnTo>
                      <a:pt x="0" y="190500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2952750" y="1714500"/>
                <a:ext cx="3810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381000">
                    <a:moveTo>
                      <a:pt x="0" y="47625"/>
                    </a:moveTo>
                    <a:cubicBezTo>
                      <a:pt x="0" y="21322"/>
                      <a:pt x="21322" y="0"/>
                      <a:pt x="47625" y="0"/>
                    </a:cubicBezTo>
                    <a:lnTo>
                      <a:pt x="333375" y="0"/>
                    </a:lnTo>
                    <a:cubicBezTo>
                      <a:pt x="359678" y="0"/>
                      <a:pt x="381000" y="21322"/>
                      <a:pt x="381000" y="47625"/>
                    </a:cubicBezTo>
                    <a:lnTo>
                      <a:pt x="381000" y="333375"/>
                    </a:lnTo>
                    <a:cubicBezTo>
                      <a:pt x="381000" y="359678"/>
                      <a:pt x="359678" y="381000"/>
                      <a:pt x="333375" y="381000"/>
                    </a:cubicBezTo>
                    <a:lnTo>
                      <a:pt x="47625" y="381000"/>
                    </a:lnTo>
                    <a:cubicBezTo>
                      <a:pt x="21322" y="381000"/>
                      <a:pt x="0" y="359678"/>
                      <a:pt x="0" y="333375"/>
                    </a:cubicBezTo>
                    <a:lnTo>
                      <a:pt x="0" y="47625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3238500" y="2000250"/>
                <a:ext cx="78581" cy="78581"/>
              </a:xfrm>
              <a:custGeom>
                <a:avLst/>
                <a:gdLst/>
                <a:ahLst/>
                <a:cxnLst/>
                <a:rect l="l" t="t" r="r" b="b"/>
                <a:pathLst>
                  <a:path w="78581" h="78581">
                    <a:moveTo>
                      <a:pt x="0" y="0"/>
                    </a:moveTo>
                    <a:lnTo>
                      <a:pt x="78581" y="78581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3238500" y="1731169"/>
                <a:ext cx="78581" cy="78581"/>
              </a:xfrm>
              <a:custGeom>
                <a:avLst/>
                <a:gdLst/>
                <a:ahLst/>
                <a:cxnLst/>
                <a:rect l="l" t="t" r="r" b="b"/>
                <a:pathLst>
                  <a:path w="78581" h="78581">
                    <a:moveTo>
                      <a:pt x="0" y="78581"/>
                    </a:moveTo>
                    <a:lnTo>
                      <a:pt x="78581" y="0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2969419" y="1731169"/>
                <a:ext cx="78581" cy="78581"/>
              </a:xfrm>
              <a:custGeom>
                <a:avLst/>
                <a:gdLst/>
                <a:ahLst/>
                <a:cxnLst/>
                <a:rect l="l" t="t" r="r" b="b"/>
                <a:pathLst>
                  <a:path w="78581" h="78581">
                    <a:moveTo>
                      <a:pt x="78581" y="78581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2969419" y="2000250"/>
                <a:ext cx="78581" cy="78581"/>
              </a:xfrm>
              <a:custGeom>
                <a:avLst/>
                <a:gdLst/>
                <a:ahLst/>
                <a:cxnLst/>
                <a:rect l="l" t="t" r="r" b="b"/>
                <a:pathLst>
                  <a:path w="78581" h="78581">
                    <a:moveTo>
                      <a:pt x="78581" y="0"/>
                    </a:moveTo>
                    <a:lnTo>
                      <a:pt x="0" y="78581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625784" y="2312670"/>
              <a:ext cx="3034932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通道一: 大模型辅助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20165" y="2853690"/>
              <a:ext cx="364617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B0B0C0"/>
                  </a:solidFill>
                  <a:latin typeface="Times New Roman"/>
                  <a:ea typeface="KaiTi"/>
                  <a:cs typeface="Times New Roman"/>
                </a:rPr>
                <a:t>进行自由文本分析，生成综合报告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80135" y="3234690"/>
              <a:ext cx="412623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B0B0C0"/>
                  </a:solidFill>
                  <a:latin typeface="Times New Roman"/>
                  <a:ea typeface="KaiTi"/>
                  <a:cs typeface="Times New Roman"/>
                </a:rPr>
                <a:t>处理模糊语义意图，快速了解整体情况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477000" y="1428750"/>
              <a:ext cx="5143500" cy="2381250"/>
            </a:xfrm>
            <a:prstGeom prst="roundRect">
              <a:avLst>
                <a:gd name="adj" fmla="val 6400"/>
              </a:avLst>
            </a:prstGeom>
            <a:solidFill>
              <a:srgbClr val="1E3A5F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8834438" y="1738312"/>
              <a:ext cx="428625" cy="333377"/>
              <a:chOff x="8834438" y="1738312"/>
              <a:chExt cx="428625" cy="333377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8834438" y="1857375"/>
                <a:ext cx="952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2875">
                    <a:moveTo>
                      <a:pt x="0" y="0"/>
                    </a:moveTo>
                    <a:lnTo>
                      <a:pt x="0" y="142875"/>
                    </a:ln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9048750" y="1738312"/>
                <a:ext cx="9525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1438">
                    <a:moveTo>
                      <a:pt x="0" y="0"/>
                    </a:moveTo>
                    <a:lnTo>
                      <a:pt x="0" y="71438"/>
                    </a:ln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9001125" y="1738312"/>
                <a:ext cx="9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">
                    <a:moveTo>
                      <a:pt x="0" y="0"/>
                    </a:move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834438" y="1928812"/>
                <a:ext cx="476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525">
                    <a:moveTo>
                      <a:pt x="47625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905875" y="1809750"/>
                <a:ext cx="357188" cy="261939"/>
              </a:xfrm>
              <a:custGeom>
                <a:avLst/>
                <a:gdLst/>
                <a:ahLst/>
                <a:cxnLst/>
                <a:rect l="l" t="t" r="r" b="b"/>
                <a:pathLst>
                  <a:path w="357188" h="261939">
                    <a:moveTo>
                      <a:pt x="0" y="47625"/>
                    </a:moveTo>
                    <a:lnTo>
                      <a:pt x="47625" y="47625"/>
                    </a:lnTo>
                    <a:lnTo>
                      <a:pt x="95250" y="0"/>
                    </a:lnTo>
                    <a:lnTo>
                      <a:pt x="175784" y="0"/>
                    </a:lnTo>
                    <a:cubicBezTo>
                      <a:pt x="184801" y="5"/>
                      <a:pt x="193042" y="5102"/>
                      <a:pt x="197072" y="13168"/>
                    </a:cubicBezTo>
                    <a:lnTo>
                      <a:pt x="231553" y="82082"/>
                    </a:lnTo>
                    <a:cubicBezTo>
                      <a:pt x="235583" y="90148"/>
                      <a:pt x="243824" y="95245"/>
                      <a:pt x="252841" y="95250"/>
                    </a:cubicBezTo>
                    <a:lnTo>
                      <a:pt x="285750" y="95250"/>
                    </a:lnTo>
                    <a:lnTo>
                      <a:pt x="285750" y="47625"/>
                    </a:lnTo>
                    <a:lnTo>
                      <a:pt x="333375" y="47625"/>
                    </a:lnTo>
                    <a:cubicBezTo>
                      <a:pt x="346526" y="47625"/>
                      <a:pt x="357188" y="58286"/>
                      <a:pt x="357188" y="71438"/>
                    </a:cubicBezTo>
                    <a:lnTo>
                      <a:pt x="357188" y="214312"/>
                    </a:lnTo>
                    <a:cubicBezTo>
                      <a:pt x="357188" y="227464"/>
                      <a:pt x="346526" y="238125"/>
                      <a:pt x="333375" y="238125"/>
                    </a:cubicBezTo>
                    <a:lnTo>
                      <a:pt x="285750" y="238125"/>
                    </a:lnTo>
                    <a:lnTo>
                      <a:pt x="285750" y="190500"/>
                    </a:lnTo>
                    <a:lnTo>
                      <a:pt x="214312" y="190500"/>
                    </a:lnTo>
                    <a:lnTo>
                      <a:pt x="214312" y="238125"/>
                    </a:lnTo>
                    <a:cubicBezTo>
                      <a:pt x="214312" y="251276"/>
                      <a:pt x="203651" y="261938"/>
                      <a:pt x="190500" y="261938"/>
                    </a:cubicBezTo>
                    <a:lnTo>
                      <a:pt x="107990" y="261938"/>
                    </a:lnTo>
                    <a:cubicBezTo>
                      <a:pt x="100030" y="261939"/>
                      <a:pt x="92595" y="257962"/>
                      <a:pt x="88178" y="251341"/>
                    </a:cubicBezTo>
                    <a:lnTo>
                      <a:pt x="47625" y="190500"/>
                    </a:lnTo>
                    <a:lnTo>
                      <a:pt x="0" y="190500"/>
                    </a:lnTo>
                    <a:lnTo>
                      <a:pt x="0" y="47625"/>
                    </a:lnTo>
                  </a:path>
                </a:pathLst>
              </a:custGeom>
              <a:noFill/>
              <a:ln w="19050">
                <a:solidFill>
                  <a:srgbClr val="00796B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6960013" y="2312670"/>
              <a:ext cx="4177475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通道二: 规则引擎 (最核心)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105650" y="2853690"/>
              <a:ext cx="388620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B0B0C0"/>
                  </a:solidFill>
                  <a:latin typeface="Times New Roman"/>
                  <a:ea typeface="KaiTi"/>
                  <a:cs typeface="Times New Roman"/>
                </a:rPr>
                <a:t>拒绝黑箱：不依赖大模型，避免幻觉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625590" y="3234690"/>
              <a:ext cx="48463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B0B0C0"/>
                  </a:solidFill>
                  <a:latin typeface="Times New Roman"/>
                  <a:ea typeface="KaiTi"/>
                  <a:cs typeface="Times New Roman"/>
                </a:rPr>
                <a:t>正则提取客观事实，精准匹配法规生成风险项</a:t>
              </a:r>
            </a:p>
          </p:txBody>
        </p:sp>
        <p:grpSp>
          <p:nvGrpSpPr>
            <p:cNvPr id="33" name="Group 33"/>
            <p:cNvGrpSpPr/>
            <p:nvPr/>
          </p:nvGrpSpPr>
          <p:grpSpPr>
            <a:xfrm>
              <a:off x="5953125" y="4119562"/>
              <a:ext cx="285750" cy="333375"/>
              <a:chOff x="5953125" y="4119562"/>
              <a:chExt cx="285750" cy="333375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6096000" y="4119562"/>
                <a:ext cx="9525" cy="3333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33375">
                    <a:moveTo>
                      <a:pt x="0" y="0"/>
                    </a:moveTo>
                    <a:lnTo>
                      <a:pt x="0" y="333375"/>
                    </a:lnTo>
                  </a:path>
                </a:pathLst>
              </a:custGeom>
              <a:noFill/>
              <a:ln w="19050">
                <a:solidFill>
                  <a:srgbClr val="808090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096000" y="4310062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142875" y="0"/>
                    </a:moveTo>
                    <a:lnTo>
                      <a:pt x="0" y="142875"/>
                    </a:lnTo>
                  </a:path>
                </a:pathLst>
              </a:custGeom>
              <a:noFill/>
              <a:ln w="19050">
                <a:solidFill>
                  <a:srgbClr val="808090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5953125" y="4310062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0"/>
                    </a:moveTo>
                    <a:lnTo>
                      <a:pt x="142875" y="142875"/>
                    </a:lnTo>
                  </a:path>
                </a:pathLst>
              </a:custGeom>
              <a:noFill/>
              <a:ln w="19050">
                <a:solidFill>
                  <a:srgbClr val="808090"/>
                </a:solidFill>
              </a:ln>
            </p:spPr>
          </p:sp>
        </p:grpSp>
        <p:sp>
          <p:nvSpPr>
            <p:cNvPr id="34" name="Rectangle 34"/>
            <p:cNvSpPr/>
            <p:nvPr/>
          </p:nvSpPr>
          <p:spPr>
            <a:xfrm>
              <a:off x="571500" y="4762500"/>
              <a:ext cx="11049000" cy="1428750"/>
            </a:xfrm>
            <a:prstGeom prst="roundRect">
              <a:avLst>
                <a:gd name="adj" fmla="val 10667"/>
              </a:avLst>
            </a:prstGeom>
            <a:solidFill>
              <a:srgbClr val="2A2A38"/>
            </a:solidFill>
            <a:ln w="38100">
              <a:solidFill>
                <a:srgbClr val="1565C0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782150" y="5042535"/>
              <a:ext cx="6627700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透明可回溯的 0-100 合规审查打分体系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854803" y="5583555"/>
              <a:ext cx="8482393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rgbClr val="B0B0C0"/>
                  </a:solidFill>
                  <a:latin typeface="Times New Roman"/>
                  <a:ea typeface="KaiTi"/>
                  <a:cs typeface="Times New Roman"/>
                </a:rPr>
                <a:t>推理链条完全透明：要素提取 -&gt; 法规匹配 -&gt; 交叉核验 -&gt; 风险评级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548640" y="6377940"/>
            <a:ext cx="218198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808090"/>
                </a:solidFill>
                <a:latin typeface="Times New Roman"/>
                <a:ea typeface="KaiTi"/>
                <a:cs typeface="Times New Roman"/>
              </a:rPr>
              <a:t>三会智理 | 路演汇报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333607" y="6377940"/>
            <a:ext cx="30975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800" dirty="0">
                <a:solidFill>
                  <a:srgbClr val="808090"/>
                </a:solidFill>
                <a:latin typeface="Times New Roman"/>
                <a:ea typeface="KaiTi"/>
                <a:cs typeface="Times New Roman"/>
              </a:rPr>
              <a:t>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  <p:bldP spid="37" grpId="0"/>
      <p:bldP spid="38" grpId="0"/>
      <p:bldP spid="3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1A24"/>
          </a:solidFill>
          <a:ln>
            <a:noFill/>
          </a:ln>
        </p:spPr>
      </p:sp>
      <p:grpSp>
        <p:nvGrpSpPr>
          <p:cNvPr id="11" name="Group 11"/>
          <p:cNvGrpSpPr/>
          <p:nvPr/>
        </p:nvGrpSpPr>
        <p:grpSpPr>
          <a:xfrm>
            <a:off x="571500" y="430530"/>
            <a:ext cx="11049000" cy="731520"/>
            <a:chOff x="571500" y="430530"/>
            <a:chExt cx="11049000" cy="731520"/>
          </a:xfrm>
        </p:grpSpPr>
        <p:grpSp>
          <p:nvGrpSpPr>
            <p:cNvPr id="8" name="Group 8"/>
            <p:cNvGrpSpPr/>
            <p:nvPr/>
          </p:nvGrpSpPr>
          <p:grpSpPr>
            <a:xfrm>
              <a:off x="628650" y="571500"/>
              <a:ext cx="342900" cy="266701"/>
              <a:chOff x="628650" y="571500"/>
              <a:chExt cx="342900" cy="266701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628650" y="666750"/>
                <a:ext cx="95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4300">
                    <a:moveTo>
                      <a:pt x="0" y="0"/>
                    </a:moveTo>
                    <a:lnTo>
                      <a:pt x="0" y="114300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800100" y="571500"/>
                <a:ext cx="95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">
                    <a:moveTo>
                      <a:pt x="0" y="0"/>
                    </a:moveTo>
                    <a:lnTo>
                      <a:pt x="0" y="57150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762000" y="571500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0" y="0"/>
                    </a:move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628650" y="723900"/>
                <a:ext cx="38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9525">
                    <a:moveTo>
                      <a:pt x="38100" y="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685800" y="628650"/>
                <a:ext cx="285750" cy="209551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209551">
                    <a:moveTo>
                      <a:pt x="0" y="38100"/>
                    </a:moveTo>
                    <a:lnTo>
                      <a:pt x="38100" y="38100"/>
                    </a:lnTo>
                    <a:lnTo>
                      <a:pt x="76200" y="0"/>
                    </a:lnTo>
                    <a:lnTo>
                      <a:pt x="140627" y="0"/>
                    </a:lnTo>
                    <a:cubicBezTo>
                      <a:pt x="147841" y="4"/>
                      <a:pt x="154433" y="4082"/>
                      <a:pt x="157658" y="10535"/>
                    </a:cubicBezTo>
                    <a:lnTo>
                      <a:pt x="185242" y="65665"/>
                    </a:lnTo>
                    <a:cubicBezTo>
                      <a:pt x="188467" y="72118"/>
                      <a:pt x="195059" y="76196"/>
                      <a:pt x="202273" y="76200"/>
                    </a:cubicBezTo>
                    <a:lnTo>
                      <a:pt x="228600" y="76200"/>
                    </a:lnTo>
                    <a:lnTo>
                      <a:pt x="228600" y="38100"/>
                    </a:lnTo>
                    <a:lnTo>
                      <a:pt x="266700" y="38100"/>
                    </a:lnTo>
                    <a:cubicBezTo>
                      <a:pt x="277221" y="38100"/>
                      <a:pt x="285750" y="46629"/>
                      <a:pt x="285750" y="57150"/>
                    </a:cubicBezTo>
                    <a:lnTo>
                      <a:pt x="285750" y="171450"/>
                    </a:lnTo>
                    <a:cubicBezTo>
                      <a:pt x="285750" y="181971"/>
                      <a:pt x="277221" y="190500"/>
                      <a:pt x="266700" y="190500"/>
                    </a:cubicBezTo>
                    <a:lnTo>
                      <a:pt x="228600" y="190500"/>
                    </a:lnTo>
                    <a:lnTo>
                      <a:pt x="228600" y="152400"/>
                    </a:lnTo>
                    <a:lnTo>
                      <a:pt x="171450" y="152400"/>
                    </a:lnTo>
                    <a:lnTo>
                      <a:pt x="171450" y="190500"/>
                    </a:lnTo>
                    <a:cubicBezTo>
                      <a:pt x="171450" y="201021"/>
                      <a:pt x="162921" y="209550"/>
                      <a:pt x="152400" y="209550"/>
                    </a:cubicBezTo>
                    <a:lnTo>
                      <a:pt x="86392" y="209550"/>
                    </a:lnTo>
                    <a:cubicBezTo>
                      <a:pt x="80024" y="209551"/>
                      <a:pt x="74076" y="206370"/>
                      <a:pt x="70542" y="201073"/>
                    </a:cubicBezTo>
                    <a:lnTo>
                      <a:pt x="38100" y="152400"/>
                    </a:lnTo>
                    <a:lnTo>
                      <a:pt x="0" y="152400"/>
                    </a:ln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</p:grpSp>
        <p:sp>
          <p:nvSpPr>
            <p:cNvPr id="9" name="TextBox 9"/>
            <p:cNvSpPr txBox="1"/>
            <p:nvPr/>
          </p:nvSpPr>
          <p:spPr>
            <a:xfrm>
              <a:off x="1097280" y="430530"/>
              <a:ext cx="6644259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技术实现架构与外部生态集成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571500" y="10477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rgbClr val="3A3A4A"/>
              </a:solidFill>
            </a:ln>
          </p:spPr>
        </p:sp>
      </p:grpSp>
      <p:grpSp>
        <p:nvGrpSpPr>
          <p:cNvPr id="50" name="Group 50"/>
          <p:cNvGrpSpPr/>
          <p:nvPr/>
        </p:nvGrpSpPr>
        <p:grpSpPr>
          <a:xfrm>
            <a:off x="571500" y="1428750"/>
            <a:ext cx="11122814" cy="4762500"/>
            <a:chOff x="571500" y="1428750"/>
            <a:chExt cx="11122814" cy="4762500"/>
          </a:xfrm>
        </p:grpSpPr>
        <p:sp>
          <p:nvSpPr>
            <p:cNvPr id="12" name="Rectangle 12"/>
            <p:cNvSpPr/>
            <p:nvPr/>
          </p:nvSpPr>
          <p:spPr>
            <a:xfrm>
              <a:off x="571500" y="1428750"/>
              <a:ext cx="5143500" cy="2476500"/>
            </a:xfrm>
            <a:prstGeom prst="roundRect">
              <a:avLst>
                <a:gd name="adj" fmla="val 6154"/>
              </a:avLst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323346" y="1645920"/>
              <a:ext cx="3639807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前端能力 (React/Vite)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762000" y="2095500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19050">
              <a:solidFill>
                <a:srgbClr val="3A3A4A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023938" y="2481262"/>
              <a:ext cx="214312" cy="142875"/>
            </a:xfrm>
            <a:custGeom>
              <a:avLst/>
              <a:gdLst/>
              <a:ahLst/>
              <a:cxnLst/>
              <a:rect l="l" t="t" r="r" b="b"/>
              <a:pathLst>
                <a:path w="214312" h="142875">
                  <a:moveTo>
                    <a:pt x="0" y="71438"/>
                  </a:moveTo>
                  <a:lnTo>
                    <a:pt x="71438" y="142875"/>
                  </a:lnTo>
                  <a:lnTo>
                    <a:pt x="214312" y="0"/>
                  </a:lnTo>
                </a:path>
              </a:pathLst>
            </a:custGeom>
            <a:noFill/>
            <a:ln w="19050">
              <a:solidFill>
                <a:srgbClr val="00796B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405890" y="2425065"/>
              <a:ext cx="195395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SPA 单页应用架构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1023938" y="3052762"/>
              <a:ext cx="214312" cy="142875"/>
            </a:xfrm>
            <a:custGeom>
              <a:avLst/>
              <a:gdLst/>
              <a:ahLst/>
              <a:cxnLst/>
              <a:rect l="l" t="t" r="r" b="b"/>
              <a:pathLst>
                <a:path w="214312" h="142875">
                  <a:moveTo>
                    <a:pt x="0" y="71438"/>
                  </a:moveTo>
                  <a:lnTo>
                    <a:pt x="71438" y="142875"/>
                  </a:lnTo>
                  <a:lnTo>
                    <a:pt x="214312" y="0"/>
                  </a:lnTo>
                </a:path>
              </a:pathLst>
            </a:custGeom>
            <a:noFill/>
            <a:ln w="19050">
              <a:solidFill>
                <a:srgbClr val="00796B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405890" y="2996565"/>
              <a:ext cx="410222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docx.js 浏览器端直接生成 Word 文档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1023938" y="3624262"/>
              <a:ext cx="214312" cy="142875"/>
            </a:xfrm>
            <a:custGeom>
              <a:avLst/>
              <a:gdLst/>
              <a:ahLst/>
              <a:cxnLst/>
              <a:rect l="l" t="t" r="r" b="b"/>
              <a:pathLst>
                <a:path w="214312" h="142875">
                  <a:moveTo>
                    <a:pt x="0" y="71438"/>
                  </a:moveTo>
                  <a:lnTo>
                    <a:pt x="71438" y="142875"/>
                  </a:lnTo>
                  <a:lnTo>
                    <a:pt x="214312" y="0"/>
                  </a:lnTo>
                </a:path>
              </a:pathLst>
            </a:custGeom>
            <a:noFill/>
            <a:ln w="19050">
              <a:solidFill>
                <a:srgbClr val="00796B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405890" y="3568065"/>
              <a:ext cx="422224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localStorage 本地缓存与日程提醒计算</a:t>
              </a:r>
            </a:p>
          </p:txBody>
        </p:sp>
        <p:grpSp>
          <p:nvGrpSpPr>
            <p:cNvPr id="24" name="Group 24"/>
            <p:cNvGrpSpPr/>
            <p:nvPr/>
          </p:nvGrpSpPr>
          <p:grpSpPr>
            <a:xfrm>
              <a:off x="5929312" y="2524125"/>
              <a:ext cx="333375" cy="285750"/>
              <a:chOff x="5929312" y="2524125"/>
              <a:chExt cx="333375" cy="28575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5929312" y="2667000"/>
                <a:ext cx="3333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33375" h="9525">
                    <a:moveTo>
                      <a:pt x="0" y="0"/>
                    </a:moveTo>
                    <a:lnTo>
                      <a:pt x="333375" y="0"/>
                    </a:lnTo>
                  </a:path>
                </a:pathLst>
              </a:custGeom>
              <a:noFill/>
              <a:ln w="19050">
                <a:solidFill>
                  <a:srgbClr val="808090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6119812" y="2667000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142875"/>
                    </a:moveTo>
                    <a:lnTo>
                      <a:pt x="142875" y="0"/>
                    </a:lnTo>
                  </a:path>
                </a:pathLst>
              </a:custGeom>
              <a:noFill/>
              <a:ln w="19050">
                <a:solidFill>
                  <a:srgbClr val="808090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119812" y="2524125"/>
                <a:ext cx="14287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42875">
                    <a:moveTo>
                      <a:pt x="0" y="0"/>
                    </a:moveTo>
                    <a:lnTo>
                      <a:pt x="142875" y="142875"/>
                    </a:lnTo>
                  </a:path>
                </a:pathLst>
              </a:custGeom>
              <a:noFill/>
              <a:ln w="19050">
                <a:solidFill>
                  <a:srgbClr val="808090"/>
                </a:solidFill>
              </a:ln>
            </p:spPr>
          </p:sp>
        </p:grpSp>
        <p:sp>
          <p:nvSpPr>
            <p:cNvPr id="25" name="Rectangle 25"/>
            <p:cNvSpPr/>
            <p:nvPr/>
          </p:nvSpPr>
          <p:spPr>
            <a:xfrm>
              <a:off x="6477000" y="1428750"/>
              <a:ext cx="5143500" cy="2476500"/>
            </a:xfrm>
            <a:prstGeom prst="roundRect">
              <a:avLst>
                <a:gd name="adj" fmla="val 6154"/>
              </a:avLst>
            </a:prstGeom>
            <a:solidFill>
              <a:srgbClr val="2A2A38"/>
            </a:solidFill>
            <a:ln w="28575">
              <a:solidFill>
                <a:srgbClr val="1565C0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464076" y="1645920"/>
              <a:ext cx="3169348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后端服务 (Express)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6667500" y="2095500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19050">
              <a:solidFill>
                <a:srgbClr val="3A3A4A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6929438" y="2386012"/>
              <a:ext cx="214312" cy="142875"/>
            </a:xfrm>
            <a:custGeom>
              <a:avLst/>
              <a:gdLst/>
              <a:ahLst/>
              <a:cxnLst/>
              <a:rect l="l" t="t" r="r" b="b"/>
              <a:pathLst>
                <a:path w="214312" h="142875">
                  <a:moveTo>
                    <a:pt x="0" y="71438"/>
                  </a:moveTo>
                  <a:lnTo>
                    <a:pt x="71438" y="142875"/>
                  </a:lnTo>
                  <a:lnTo>
                    <a:pt x="214312" y="0"/>
                  </a:lnTo>
                </a:path>
              </a:pathLst>
            </a:custGeom>
            <a:noFill/>
            <a:ln w="19050">
              <a:solidFill>
                <a:srgbClr val="1565C0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311390" y="2329815"/>
              <a:ext cx="268605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同一进程内外双角色兼顾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6929438" y="2862262"/>
              <a:ext cx="214312" cy="142875"/>
            </a:xfrm>
            <a:custGeom>
              <a:avLst/>
              <a:gdLst/>
              <a:ahLst/>
              <a:cxnLst/>
              <a:rect l="l" t="t" r="r" b="b"/>
              <a:pathLst>
                <a:path w="214312" h="142875">
                  <a:moveTo>
                    <a:pt x="0" y="71438"/>
                  </a:moveTo>
                  <a:lnTo>
                    <a:pt x="71438" y="142875"/>
                  </a:lnTo>
                  <a:lnTo>
                    <a:pt x="214312" y="0"/>
                  </a:lnTo>
                </a:path>
              </a:pathLst>
            </a:custGeom>
            <a:noFill/>
            <a:ln w="19050">
              <a:solidFill>
                <a:srgbClr val="1565C0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11390" y="2806065"/>
              <a:ext cx="353815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HMAC-SHA256 安全签名认证机制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6929438" y="3338512"/>
              <a:ext cx="214312" cy="142875"/>
            </a:xfrm>
            <a:custGeom>
              <a:avLst/>
              <a:gdLst/>
              <a:ahLst/>
              <a:cxnLst/>
              <a:rect l="l" t="t" r="r" b="b"/>
              <a:pathLst>
                <a:path w="214312" h="142875">
                  <a:moveTo>
                    <a:pt x="0" y="71438"/>
                  </a:moveTo>
                  <a:lnTo>
                    <a:pt x="71438" y="142875"/>
                  </a:lnTo>
                  <a:lnTo>
                    <a:pt x="214312" y="0"/>
                  </a:lnTo>
                </a:path>
              </a:pathLst>
            </a:custGeom>
            <a:noFill/>
            <a:ln w="19050">
              <a:solidFill>
                <a:srgbClr val="1565C0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311390" y="3282315"/>
              <a:ext cx="391020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服务端 JSZip 读取母板批量渲染文书</a:t>
              </a:r>
            </a:p>
          </p:txBody>
        </p:sp>
        <p:sp>
          <p:nvSpPr>
            <p:cNvPr id="34" name="Freeform 34"/>
            <p:cNvSpPr/>
            <p:nvPr/>
          </p:nvSpPr>
          <p:spPr>
            <a:xfrm>
              <a:off x="6929438" y="3814762"/>
              <a:ext cx="214312" cy="142875"/>
            </a:xfrm>
            <a:custGeom>
              <a:avLst/>
              <a:gdLst/>
              <a:ahLst/>
              <a:cxnLst/>
              <a:rect l="l" t="t" r="r" b="b"/>
              <a:pathLst>
                <a:path w="214312" h="142875">
                  <a:moveTo>
                    <a:pt x="0" y="71438"/>
                  </a:moveTo>
                  <a:lnTo>
                    <a:pt x="71438" y="142875"/>
                  </a:lnTo>
                  <a:lnTo>
                    <a:pt x="214312" y="0"/>
                  </a:lnTo>
                </a:path>
              </a:pathLst>
            </a:custGeom>
            <a:noFill/>
            <a:ln w="19050">
              <a:solidFill>
                <a:srgbClr val="1565C0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311390" y="3758565"/>
              <a:ext cx="412623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轻量级大模型接口封装与失败降级策略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71500" y="4476750"/>
              <a:ext cx="11049000" cy="1714500"/>
            </a:xfrm>
            <a:prstGeom prst="roundRect">
              <a:avLst>
                <a:gd name="adj" fmla="val 8889"/>
              </a:avLst>
            </a:prstGeom>
            <a:solidFill>
              <a:srgbClr val="1E3A5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385310" y="1741170"/>
              <a:ext cx="3421380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外部生态接入与数据源</a:t>
              </a:r>
            </a:p>
          </p:txBody>
        </p:sp>
        <p:sp>
          <p:nvSpPr>
            <p:cNvPr id="38" name="Line 38"/>
            <p:cNvSpPr/>
            <p:nvPr/>
          </p:nvSpPr>
          <p:spPr>
            <a:xfrm>
              <a:off x="762000" y="219075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9050">
              <a:solidFill>
                <a:srgbClr val="3A3A4A"/>
              </a:solidFill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1219200" y="2533650"/>
              <a:ext cx="304800" cy="342900"/>
              <a:chOff x="1219200" y="2533650"/>
              <a:chExt cx="304800" cy="34290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1219200" y="2533650"/>
                <a:ext cx="3048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114300">
                    <a:moveTo>
                      <a:pt x="0" y="57150"/>
                    </a:moveTo>
                    <a:cubicBezTo>
                      <a:pt x="0" y="88713"/>
                      <a:pt x="68232" y="114300"/>
                      <a:pt x="152400" y="114300"/>
                    </a:cubicBezTo>
                    <a:cubicBezTo>
                      <a:pt x="236568" y="114300"/>
                      <a:pt x="304800" y="88713"/>
                      <a:pt x="304800" y="57150"/>
                    </a:cubicBezTo>
                    <a:cubicBezTo>
                      <a:pt x="304800" y="25587"/>
                      <a:pt x="236568" y="0"/>
                      <a:pt x="152400" y="0"/>
                    </a:cubicBezTo>
                    <a:cubicBezTo>
                      <a:pt x="68232" y="0"/>
                      <a:pt x="0" y="25587"/>
                      <a:pt x="0" y="57150"/>
                    </a:cubicBez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1219200" y="2590800"/>
                <a:ext cx="3048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171450">
                    <a:moveTo>
                      <a:pt x="0" y="0"/>
                    </a:moveTo>
                    <a:lnTo>
                      <a:pt x="0" y="114300"/>
                    </a:lnTo>
                    <a:cubicBezTo>
                      <a:pt x="0" y="145863"/>
                      <a:pt x="68232" y="171450"/>
                      <a:pt x="152400" y="171450"/>
                    </a:cubicBezTo>
                    <a:cubicBezTo>
                      <a:pt x="236568" y="171450"/>
                      <a:pt x="304800" y="145863"/>
                      <a:pt x="304800" y="114300"/>
                    </a:cubicBezTo>
                    <a:lnTo>
                      <a:pt x="304800" y="0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1219200" y="2705100"/>
                <a:ext cx="3048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171450">
                    <a:moveTo>
                      <a:pt x="0" y="0"/>
                    </a:moveTo>
                    <a:lnTo>
                      <a:pt x="0" y="114300"/>
                    </a:lnTo>
                    <a:cubicBezTo>
                      <a:pt x="0" y="145863"/>
                      <a:pt x="68232" y="171450"/>
                      <a:pt x="152400" y="171450"/>
                    </a:cubicBezTo>
                    <a:cubicBezTo>
                      <a:pt x="236568" y="171450"/>
                      <a:pt x="304800" y="145863"/>
                      <a:pt x="304800" y="114300"/>
                    </a:cubicBezTo>
                    <a:lnTo>
                      <a:pt x="304800" y="0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1687830" y="2535555"/>
              <a:ext cx="10006484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D4AF37"/>
                  </a:solidFill>
                  <a:latin typeface="Times New Roman"/>
                  <a:ea typeface="KaiTi"/>
                  <a:cs typeface="Times New Roman"/>
                </a:rPr>
                <a:t>飞书多维表格: 作为核心业务主数据源，支持按表名自动匹配或环境变量兜底</a:t>
              </a:r>
            </a:p>
          </p:txBody>
        </p:sp>
        <p:grpSp>
          <p:nvGrpSpPr>
            <p:cNvPr id="48" name="Group 48"/>
            <p:cNvGrpSpPr/>
            <p:nvPr/>
          </p:nvGrpSpPr>
          <p:grpSpPr>
            <a:xfrm>
              <a:off x="1238250" y="3181350"/>
              <a:ext cx="266700" cy="371475"/>
              <a:chOff x="1238250" y="3181350"/>
              <a:chExt cx="266700" cy="371475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1314450" y="3181350"/>
                <a:ext cx="114300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209550">
                    <a:moveTo>
                      <a:pt x="0" y="57150"/>
                    </a:moveTo>
                    <a:cubicBezTo>
                      <a:pt x="0" y="25587"/>
                      <a:pt x="25587" y="0"/>
                      <a:pt x="57150" y="0"/>
                    </a:cubicBezTo>
                    <a:cubicBezTo>
                      <a:pt x="88713" y="0"/>
                      <a:pt x="114300" y="25587"/>
                      <a:pt x="114300" y="57150"/>
                    </a:cubicBezTo>
                    <a:lnTo>
                      <a:pt x="114300" y="152400"/>
                    </a:lnTo>
                    <a:cubicBezTo>
                      <a:pt x="114300" y="183963"/>
                      <a:pt x="88713" y="209550"/>
                      <a:pt x="57150" y="209550"/>
                    </a:cubicBezTo>
                    <a:cubicBezTo>
                      <a:pt x="25587" y="209550"/>
                      <a:pt x="0" y="183963"/>
                      <a:pt x="0" y="152400"/>
                    </a:cubicBezTo>
                    <a:lnTo>
                      <a:pt x="0" y="57150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1238250" y="3333750"/>
                <a:ext cx="26670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33350">
                    <a:moveTo>
                      <a:pt x="0" y="0"/>
                    </a:moveTo>
                    <a:cubicBezTo>
                      <a:pt x="0" y="73647"/>
                      <a:pt x="59703" y="133350"/>
                      <a:pt x="133350" y="133350"/>
                    </a:cubicBezTo>
                    <a:cubicBezTo>
                      <a:pt x="206997" y="133350"/>
                      <a:pt x="266700" y="73647"/>
                      <a:pt x="266700" y="0"/>
                    </a:cubicBez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1295400" y="3543300"/>
                <a:ext cx="152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9525">
                    <a:moveTo>
                      <a:pt x="0" y="0"/>
                    </a:moveTo>
                    <a:lnTo>
                      <a:pt x="152400" y="0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1371600" y="3467100"/>
                <a:ext cx="95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6200">
                    <a:moveTo>
                      <a:pt x="0" y="0"/>
                    </a:moveTo>
                    <a:lnTo>
                      <a:pt x="0" y="76200"/>
                    </a:lnTo>
                  </a:path>
                </a:pathLst>
              </a:custGeom>
              <a:noFill/>
              <a:ln w="19050">
                <a:solidFill>
                  <a:srgbClr val="D4AF37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687830" y="3202305"/>
              <a:ext cx="9197883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D4AF37"/>
                  </a:solidFill>
                  <a:latin typeface="Times New Roman"/>
                  <a:ea typeface="KaiTi"/>
                  <a:cs typeface="Times New Roman"/>
                </a:rPr>
                <a:t>飞书妙记及自动化回调: 提供高精度 ASR 录音识别与事件回调写回支持</a:t>
              </a:r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548640" y="6377940"/>
            <a:ext cx="218198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808090"/>
                </a:solidFill>
                <a:latin typeface="Times New Roman"/>
                <a:ea typeface="KaiTi"/>
                <a:cs typeface="Times New Roman"/>
              </a:rPr>
              <a:t>三会智理 | 路演汇报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1333607" y="6377940"/>
            <a:ext cx="30975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800" dirty="0">
                <a:solidFill>
                  <a:srgbClr val="808090"/>
                </a:solidFill>
                <a:latin typeface="Times New Roman"/>
                <a:ea typeface="KaiTi"/>
                <a:cs typeface="Times New Roman"/>
              </a:rPr>
              <a:t>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/>
      <p:bldP spid="50" grpId="0"/>
      <p:bldP spid="51" grpId="0"/>
      <p:bldP spid="5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rcRect l="388" t="0" r="388" b="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A1A24">
                  <a:alpha val="30000"/>
                </a:srgbClr>
              </a:gs>
              <a:gs pos="100000">
                <a:srgbClr val="1A1A24">
                  <a:alpha val="95000"/>
                </a:srgbClr>
              </a:gs>
            </a:gsLst>
            <a:lin ang="5400000" scaled="1"/>
          </a:gra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253555" y="1508760"/>
            <a:ext cx="11684889" cy="2263140"/>
            <a:chOff x="253555" y="1508760"/>
            <a:chExt cx="11684889" cy="2263140"/>
          </a:xfrm>
        </p:grpSpPr>
        <p:sp>
          <p:nvSpPr>
            <p:cNvPr id="4" name="TextBox 4"/>
            <p:cNvSpPr txBox="1"/>
            <p:nvPr/>
          </p:nvSpPr>
          <p:spPr>
            <a:xfrm>
              <a:off x="459867" y="1508760"/>
              <a:ext cx="11272266" cy="1463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7200" b="1" dirty="0">
                  <a:solidFill>
                    <a:srgbClr val="F8F9FA"/>
                  </a:solidFill>
                  <a:latin typeface="Times New Roman"/>
                  <a:ea typeface="KaiTi"/>
                  <a:cs typeface="Times New Roman"/>
                </a:rPr>
                <a:t>谢谢聆听，敬请批评指正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524500" y="2667000"/>
              <a:ext cx="1143000" cy="76200"/>
            </a:xfrm>
            <a:prstGeom prst="rect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253555" y="3040380"/>
              <a:ext cx="11684889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B0B0C0"/>
                  </a:solidFill>
                  <a:latin typeface="Times New Roman"/>
                  <a:ea typeface="KaiTi"/>
                  <a:cs typeface="Times New Roman"/>
                </a:rPr>
                <a:t>三会智理：将重复繁琐自动化，提高用户间通信效率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2026-07-21T08:04:06Z</dcterms:created>
  <dcterms:modified xsi:type="dcterms:W3CDTF">2026-07-21T08:04:06Z</dcterms:modified>
  <cp:category/>
  <cp:contentStatus/>
</cp:coreProperties>
</file>