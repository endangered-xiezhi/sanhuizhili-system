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 snapToObjects="1">
      <p:cViewPr>
        <p:scale>
          <a:sx n="75" d="100"/>
          <a:sy n="75" d="100"/>
        </p:scale>
        <p:origin x="856" y="1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731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委老师好，我们组的产品叫三会智理，它是一个面向上市企业会议管理的网页应用，专门服务股东会、董事会和监事会（也就是“三会”），以及其他会议的日常管理工作。在许多公司尤其是待上市公司中，以三会为主的会务工作对企业负担较重。从规划到记录的全过程繁琐、合规风险高。法务和董秘需要核对通知期限、要整理与会人员名单和会议纪要，还要准备全套通知、议程、签到表、决议等文书，最后归档留存。这些工作大量依赖人工，且容错率非常低，合规瑕疵就意味着法律风险和经济损失。三会智理旨在将整套流程自动化，并且预测合规风险供用户调整会议安排、修改会议文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会智理是一个全栈网页应用，前端用React构建界面，后端用Express提供接口，两者部署在同一个服务里，可以直接在云平台上运行。系统选择飞书多维表格作为数据中台，意味着会议信息、人员信息、议案、文书等数据不是孤立地存在于我们自己的数据库中，而是实时读写在客户的飞书表格中，方便企业的其他系统和人员协同查看。打开网页，第一个板块是全局控制台，待办会议数、已生成文书数、法定通知预警、与会人员总数四个核心指标在最醒目的位置，配合按会议类型着色的日历视图，让用户对于临期会议、合规指数较低的会议一目了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议管理模块负责会议的创建和维护。创建会议时，系统会根据选择的会议类型自动提示对应的法定门槛，比如临时股东会需要持股10%以上的股东提议才能召开，这类规则直接写进了创建流程中。与会人员的选择也做了优先级排序，董事、监事、高管、股东依次排列，股东还会自动标注持股比例。会议信息保存后实时同步到飞书表格，如果飞书那边还没有对应字段，系统会友好地提示并把数据先存在本地。</a:t>
            </a:r>
          </a:p>
          <a:p>
            <a:r>
              <a:rPr lang="zh-CN" dirty="0"/>
              <a:t>会议结束后，录音工作台负责将音频与会议纪要转成规范文档。它支持上传文稿与录音文件，后者使用飞书妙记的转写功能。转写完成后，系统能把飞书里该会议的基本信息、录音识别文件和已有议案自动关联，明确标出待补齐的内容。生成的文本可以按照国标文档规范预览和编辑，最后一键导出成Word文件，也可以推送到文书中心继续加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书中心是承担核心产出的模块。它提供会议通知、议程、签到表、决议、纪要、公告等多种文书模板，支持在线编辑和实时预览，最终可以导出成Word或PDF。这个模块和会议管理、录音工作台双向联动。系统在服务端准备了一整套Word模板，可以直接用飞书里的会议数据批量渲染，把一场会议需要的全部文书打包成压缩包下载，股东会对应9份文书，董事会和监事会各对应6份。</a:t>
            </a:r>
          </a:p>
          <a:p>
            <a:r>
              <a:rPr lang="zh-CN" dirty="0"/>
              <a:t>与会人员模块管理董监高和股东的完整信息，包括任期、独立性声明、关联关系、持股比例。这个模块也做了自动化的合规检测：比如系统规定董事和高级管理人员不能兼任监事；独立董事占比会自动计算并和监管要求的33%比较；每个人的任期兼剩余天数也会自动标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我想重点讲一下合规审查模块，这是我们认为最能体现产品价值的部分。在合规场景中，AI最大的风险是信息准确度不足，轻度的法律风险也可能造成极大损失。因此，我们在合规审查上设计了两条通道。第一条通道基于大模型做自由文本分析，生成一份可读性强的综合报告。第二条通道，是一个不依赖大模型的规则引擎。它从上传的文件和飞书里的会议上下文中，用规则化的方式提取事实，然后逐条对照公司法的具体条款生成风险项，并给出一个0到100的合规指数。该引擎的设计原则是只依据当前材料下结论，如果某项信息缺失，就明确标注为“无法判断”。审查结论必须可回溯，每一条风险评价都能追溯到具体的规则和事实，而不是一个黑箱式的评分。推理链条完全透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从实现的角度看，整个系统是一个前后端运行在同一进程里的 Express 应用：浏览器端的 React 单页应用直接向后端接口发起请求，同时保留一部分纯前端能力，比如用 docx.js 在浏览器端直接生成 Word 文件。后端的核心是飞书接入这一层，负责获取和缓存访问令牌、读写多维表格记录，这一层做了容错设计：默认按表名自动匹配，也支持用环境变量手动指定。外部集成方面，飞书多维表格和妙记是系统的主数据源，签名认证部分是自行实现的HMAC-SHA256签名算法。文书批量生成模块在服务端用JSZip读取预先准备好的Word母版文件做占位符替换和循环展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综上所述，三会智理旨在将重复繁琐、容错率低的企业会务工作进行自动化执行和合规审查，并通过借助深度融入飞书生态提高本产品的用户间通信效率。感谢各位垂听，请各位评委老师批评指正。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l="388" r="38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80060" y="2270760"/>
            <a:ext cx="9210294" cy="3834765"/>
            <a:chOff x="480060" y="2270760"/>
            <a:chExt cx="9210294" cy="3834765"/>
          </a:xfrm>
        </p:grpSpPr>
        <p:sp>
          <p:nvSpPr>
            <p:cNvPr id="4" name="TextBox 4"/>
            <p:cNvSpPr txBox="1"/>
            <p:nvPr/>
          </p:nvSpPr>
          <p:spPr>
            <a:xfrm>
              <a:off x="480060" y="2270760"/>
              <a:ext cx="4215384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三会智理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3619500"/>
              <a:ext cx="762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25780" y="3897630"/>
              <a:ext cx="916457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面向上市企业的三会管理与智能合规平台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830" y="5678805"/>
              <a:ext cx="40158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08090"/>
                  </a:solidFill>
                  <a:latin typeface="Times New Roman"/>
                  <a:ea typeface="KaiTi"/>
                  <a:cs typeface="Times New Roman"/>
                </a:rPr>
                <a:t>将流程自动化 · 将合规交予规则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9" name="Group 9"/>
            <p:cNvGrpSpPr/>
            <p:nvPr/>
          </p:nvGrpSpPr>
          <p:grpSpPr>
            <a:xfrm>
              <a:off x="647700" y="552450"/>
              <a:ext cx="304800" cy="304800"/>
              <a:chOff x="647700" y="552450"/>
              <a:chExt cx="304800" cy="3048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23900" y="628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47700" y="5524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66700"/>
                    </a:lnTo>
                    <a:cubicBezTo>
                      <a:pt x="304800" y="287742"/>
                      <a:pt x="287742" y="304800"/>
                      <a:pt x="2667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6300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62865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62865"/>
                    </a:moveTo>
                    <a:lnTo>
                      <a:pt x="6286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1035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6286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1035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97280" y="430530"/>
              <a:ext cx="808083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产品概述: 全栈驱动与飞书数据中台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428750"/>
            <a:ext cx="11049000" cy="1905000"/>
            <a:chOff x="571500" y="1428750"/>
            <a:chExt cx="1104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2857500" cy="19050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28575">
              <a:solidFill>
                <a:srgbClr val="1E3A5F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85938" y="1809750"/>
              <a:ext cx="428625" cy="381000"/>
              <a:chOff x="1785938" y="1809750"/>
              <a:chExt cx="428625" cy="38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785938" y="18097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785938" y="20002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881188" y="190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81188" y="2095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86035" y="2407920"/>
              <a:ext cx="222843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全栈 Web 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7274" y="2853690"/>
              <a:ext cx="19059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React + Express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738562" y="2238375"/>
              <a:ext cx="333375" cy="285750"/>
              <a:chOff x="3738562" y="223837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738562" y="23812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2906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29062" y="22383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4381500" y="142875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3305" y="1836420"/>
              <a:ext cx="350539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全局控制台 Dashboard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4973" y="2377440"/>
              <a:ext cx="2722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核心指标监控 + 日历视图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3005" y="27584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临期预警与合规指数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20062" y="2238375"/>
              <a:ext cx="333375" cy="285750"/>
              <a:chOff x="8120062" y="2238375"/>
              <a:chExt cx="333375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0062" y="23812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1056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10562" y="22383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8763000" y="1428750"/>
              <a:ext cx="2857500" cy="19050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001250" y="1785938"/>
              <a:ext cx="381000" cy="428624"/>
              <a:chOff x="10001250" y="1785938"/>
              <a:chExt cx="381000" cy="4286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001250" y="1785938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0" y="71438"/>
                    </a:moveTo>
                    <a:cubicBezTo>
                      <a:pt x="0" y="110891"/>
                      <a:pt x="85290" y="142875"/>
                      <a:pt x="190500" y="142875"/>
                    </a:cubicBezTo>
                    <a:cubicBezTo>
                      <a:pt x="295710" y="142875"/>
                      <a:pt x="381000" y="110891"/>
                      <a:pt x="381000" y="71438"/>
                    </a:cubicBezTo>
                    <a:cubicBezTo>
                      <a:pt x="381000" y="31984"/>
                      <a:pt x="295710" y="0"/>
                      <a:pt x="190500" y="0"/>
                    </a:cubicBezTo>
                    <a:cubicBezTo>
                      <a:pt x="85290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01250" y="1857375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01250" y="2000250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53144" y="240792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飞书多维表格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8755" y="28536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实时读写的核心数据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000500"/>
            <a:ext cx="11049000" cy="1143000"/>
            <a:chOff x="571500" y="4000500"/>
            <a:chExt cx="11049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571500" y="4000500"/>
              <a:ext cx="11049000" cy="11430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10000"/>
              </a:srgbClr>
            </a:solidFill>
            <a:ln w="19050">
              <a:solidFill>
                <a:srgbClr val="1565C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643062" y="4452938"/>
              <a:ext cx="357188" cy="238125"/>
            </a:xfrm>
            <a:custGeom>
              <a:avLst/>
              <a:gdLst/>
              <a:ahLst/>
              <a:cxnLst/>
              <a:rect l="l" t="t" r="r" b="b"/>
              <a:pathLst>
                <a:path w="357188" h="238125">
                  <a:moveTo>
                    <a:pt x="0" y="119062"/>
                  </a:moveTo>
                  <a:lnTo>
                    <a:pt x="119062" y="238125"/>
                  </a:lnTo>
                  <a:lnTo>
                    <a:pt x="357188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14167" y="4375785"/>
              <a:ext cx="87636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非孤立数据库架构：与企业现有系统和人员无缝协同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40" grpId="0"/>
      <p:bldP spid="44" grpId="0"/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7" name="Group 7"/>
            <p:cNvGrpSpPr/>
            <p:nvPr/>
          </p:nvGrpSpPr>
          <p:grpSpPr>
            <a:xfrm>
              <a:off x="666750" y="514350"/>
              <a:ext cx="266700" cy="371475"/>
              <a:chOff x="666750" y="514350"/>
              <a:chExt cx="266700" cy="3714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42950" y="5143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6667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23900" y="876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800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097280" y="430530"/>
              <a:ext cx="7576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核心功能: 会议管理与录音工作台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71500" y="1428750"/>
            <a:ext cx="11049000" cy="3333750"/>
            <a:chOff x="571500" y="1428750"/>
            <a:chExt cx="110490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748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会议管理模块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05890" y="2615565"/>
              <a:ext cx="3706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自动提示法定门槛 (如10%提议权)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05890" y="318706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与会人员智能排序与标记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05890" y="37585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数据容错存盘，防缺失与丢失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29312" y="2952750"/>
              <a:ext cx="333375" cy="285750"/>
              <a:chOff x="5929312" y="2952750"/>
              <a:chExt cx="333375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929312" y="30956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119812" y="3095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19812" y="29527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64770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D4AF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9342" y="17087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录音工作台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532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929438" y="2600325"/>
              <a:ext cx="200025" cy="280988"/>
              <a:chOff x="6929438" y="2600325"/>
              <a:chExt cx="200025" cy="2809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86588" y="26003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929438" y="27146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72300" y="28717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29450" y="28146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311390" y="2615565"/>
              <a:ext cx="29860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集成飞书妙记 ASR 语音转写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915150" y="3200400"/>
              <a:ext cx="228600" cy="228600"/>
              <a:chOff x="6915150" y="3200400"/>
              <a:chExt cx="228600" cy="228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972300" y="3257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15150" y="3200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6600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0"/>
                    </a:moveTo>
                    <a:lnTo>
                      <a:pt x="47149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86600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47149"/>
                    </a:moveTo>
                    <a:lnTo>
                      <a:pt x="47149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151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4714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25151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0"/>
                    </a:moveTo>
                    <a:lnTo>
                      <a:pt x="0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311390" y="31870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识别文本与议案自动关联对齐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929438" y="3757612"/>
              <a:ext cx="200025" cy="257175"/>
              <a:chOff x="6929438" y="3757612"/>
              <a:chExt cx="20002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058025" y="37576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9438" y="375761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86588" y="384333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6588" y="39004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6588" y="39576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311390" y="3758565"/>
              <a:ext cx="38141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在线预览排版，一键导出国标 Word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533400"/>
              <a:ext cx="266700" cy="342900"/>
              <a:chOff x="666750" y="533400"/>
              <a:chExt cx="266700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38200" y="533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5334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42950" y="6477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2950" y="7239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2950" y="800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56361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文书中心与与会人员管理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1428750"/>
            <a:ext cx="11049000" cy="3333750"/>
            <a:chOff x="571500" y="1428750"/>
            <a:chExt cx="11049000" cy="333375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4091" y="1708785"/>
              <a:ext cx="43783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文书中心 (一键打包成卷)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5890" y="26155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涵盖会议通知、议程、签到表等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890" y="31870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支持在线编辑与实时预览导出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5890" y="3758565"/>
              <a:ext cx="41502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匹配法定数量：股东会9份，董监会6份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803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与会人员矩阵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532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1581" y="2614612"/>
              <a:ext cx="279010" cy="257176"/>
              <a:chOff x="6881581" y="2614612"/>
              <a:chExt cx="279010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81581" y="2614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72312" y="2814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311390" y="26155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全景化董监高及股东持股任职信息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881581" y="3186112"/>
              <a:ext cx="279010" cy="257176"/>
              <a:chOff x="6881581" y="3186112"/>
              <a:chExt cx="279010" cy="2571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881581" y="31861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72312" y="33861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311390" y="3187065"/>
              <a:ext cx="39942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自动化底线合规：独董占比 33% 校验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881581" y="3757612"/>
              <a:ext cx="279010" cy="257176"/>
              <a:chOff x="6881581" y="3757612"/>
              <a:chExt cx="279010" cy="2571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1581" y="3757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72312" y="3957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311390" y="37585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任期兼职互斥自动拦截与到期预警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5" name="Group 5"/>
            <p:cNvGrpSpPr/>
            <p:nvPr/>
          </p:nvGrpSpPr>
          <p:grpSpPr>
            <a:xfrm>
              <a:off x="602941" y="533400"/>
              <a:ext cx="372013" cy="342900"/>
              <a:chOff x="602941" y="533400"/>
              <a:chExt cx="372013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2941" y="53340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57250" y="8001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97280" y="430530"/>
              <a:ext cx="90889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核心壁垒: 透明可追溯的合规双通道审查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428750"/>
            <a:ext cx="11049000" cy="4762500"/>
            <a:chOff x="571500" y="1428750"/>
            <a:chExt cx="11049000" cy="4762500"/>
          </a:xfrm>
        </p:grpSpPr>
        <p:sp>
          <p:nvSpPr>
            <p:cNvPr id="9" name="Rectangle 9"/>
            <p:cNvSpPr/>
            <p:nvPr/>
          </p:nvSpPr>
          <p:spPr>
            <a:xfrm>
              <a:off x="571500" y="1428750"/>
              <a:ext cx="5143500" cy="2381250"/>
            </a:xfrm>
            <a:prstGeom prst="roundRect">
              <a:avLst>
                <a:gd name="adj" fmla="val 6400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52750" y="1714500"/>
              <a:ext cx="381000" cy="381000"/>
              <a:chOff x="2952750" y="1714500"/>
              <a:chExt cx="381000" cy="38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048000" y="1809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0"/>
                    </a:lnTo>
                    <a:lnTo>
                      <a:pt x="0" y="1905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952750" y="1714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33375"/>
                    </a:lnTo>
                    <a:cubicBezTo>
                      <a:pt x="381000" y="359678"/>
                      <a:pt x="359678" y="381000"/>
                      <a:pt x="333375" y="381000"/>
                    </a:cubicBezTo>
                    <a:lnTo>
                      <a:pt x="47625" y="381000"/>
                    </a:lnTo>
                    <a:cubicBezTo>
                      <a:pt x="21322" y="381000"/>
                      <a:pt x="0" y="359678"/>
                      <a:pt x="0" y="333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38500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238500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78581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969419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785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969419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0"/>
                    </a:moveTo>
                    <a:lnTo>
                      <a:pt x="0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625784" y="2312670"/>
              <a:ext cx="30349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通道一: 大模型辅助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2853690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进行自由文本分析，生成综合报告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0135" y="323469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处理模糊语义意图，快速了解整体情况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428750"/>
              <a:ext cx="5143500" cy="2381250"/>
            </a:xfrm>
            <a:prstGeom prst="roundRect">
              <a:avLst>
                <a:gd name="adj" fmla="val 6400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834438" y="1738312"/>
              <a:ext cx="428625" cy="333377"/>
              <a:chOff x="8834438" y="1738312"/>
              <a:chExt cx="428625" cy="33337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834438" y="185737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048750" y="173831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001125" y="1738312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34438" y="1928812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05875" y="1809750"/>
                <a:ext cx="357188" cy="261939"/>
              </a:xfrm>
              <a:custGeom>
                <a:avLst/>
                <a:gdLst/>
                <a:ahLst/>
                <a:cxnLst/>
                <a:rect l="l" t="t" r="r" b="b"/>
                <a:pathLst>
                  <a:path w="357188" h="261939">
                    <a:moveTo>
                      <a:pt x="0" y="47625"/>
                    </a:moveTo>
                    <a:lnTo>
                      <a:pt x="47625" y="47625"/>
                    </a:lnTo>
                    <a:lnTo>
                      <a:pt x="95250" y="0"/>
                    </a:lnTo>
                    <a:lnTo>
                      <a:pt x="175784" y="0"/>
                    </a:lnTo>
                    <a:cubicBezTo>
                      <a:pt x="184801" y="5"/>
                      <a:pt x="193042" y="5102"/>
                      <a:pt x="197072" y="13168"/>
                    </a:cubicBezTo>
                    <a:lnTo>
                      <a:pt x="231553" y="82082"/>
                    </a:lnTo>
                    <a:cubicBezTo>
                      <a:pt x="235583" y="90148"/>
                      <a:pt x="243824" y="95245"/>
                      <a:pt x="252841" y="95250"/>
                    </a:cubicBez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cubicBezTo>
                      <a:pt x="346526" y="47625"/>
                      <a:pt x="357188" y="58286"/>
                      <a:pt x="357188" y="71438"/>
                    </a:cubicBezTo>
                    <a:lnTo>
                      <a:pt x="357188" y="214312"/>
                    </a:lnTo>
                    <a:cubicBezTo>
                      <a:pt x="357188" y="227464"/>
                      <a:pt x="346526" y="238125"/>
                      <a:pt x="333375" y="238125"/>
                    </a:cubicBezTo>
                    <a:lnTo>
                      <a:pt x="285750" y="238125"/>
                    </a:lnTo>
                    <a:lnTo>
                      <a:pt x="285750" y="190500"/>
                    </a:lnTo>
                    <a:lnTo>
                      <a:pt x="214312" y="190500"/>
                    </a:lnTo>
                    <a:lnTo>
                      <a:pt x="214312" y="238125"/>
                    </a:lnTo>
                    <a:cubicBezTo>
                      <a:pt x="214312" y="251276"/>
                      <a:pt x="203651" y="261938"/>
                      <a:pt x="190500" y="261938"/>
                    </a:cubicBezTo>
                    <a:lnTo>
                      <a:pt x="107990" y="261938"/>
                    </a:lnTo>
                    <a:cubicBezTo>
                      <a:pt x="100030" y="261939"/>
                      <a:pt x="92595" y="257962"/>
                      <a:pt x="88178" y="251341"/>
                    </a:cubicBezTo>
                    <a:lnTo>
                      <a:pt x="47625" y="190500"/>
                    </a:lnTo>
                    <a:lnTo>
                      <a:pt x="0" y="19050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60013" y="2312670"/>
              <a:ext cx="41774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通道二: 规则引擎 (最核心)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05650" y="2853690"/>
              <a:ext cx="3886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拒绝黑箱：不依赖大模型，避免幻觉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5590" y="3234690"/>
              <a:ext cx="4846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正则提取客观事实，精准匹配法规生成风险项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953125" y="4119562"/>
              <a:ext cx="285750" cy="333375"/>
              <a:chOff x="5953125" y="4119562"/>
              <a:chExt cx="285750" cy="3333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96000" y="4119562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96000" y="4310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53125" y="4310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4" name="Rectangle 34"/>
            <p:cNvSpPr/>
            <p:nvPr/>
          </p:nvSpPr>
          <p:spPr>
            <a:xfrm>
              <a:off x="571500" y="4762500"/>
              <a:ext cx="11049000" cy="1428750"/>
            </a:xfrm>
            <a:prstGeom prst="roundRect">
              <a:avLst>
                <a:gd name="adj" fmla="val 10667"/>
              </a:avLst>
            </a:prstGeom>
            <a:solidFill>
              <a:srgbClr val="2A2A38"/>
            </a:solidFill>
            <a:ln w="3810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82150" y="5042535"/>
              <a:ext cx="66277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透明可回溯的 0-100 合规审查打分体系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4803" y="5583555"/>
              <a:ext cx="848239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推理链条完全透明：要素提取 -&gt; 法规匹配 -&gt; 交叉核验 -&gt; 风险评级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-1" y="1058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28650" y="571500"/>
              <a:ext cx="342900" cy="266701"/>
              <a:chOff x="628650" y="571500"/>
              <a:chExt cx="342900" cy="2667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28650" y="6667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00100" y="5715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62000" y="571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28650" y="7239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628650"/>
                <a:ext cx="285750" cy="20955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1">
                    <a:moveTo>
                      <a:pt x="0" y="38100"/>
                    </a:moveTo>
                    <a:lnTo>
                      <a:pt x="38100" y="38100"/>
                    </a:lnTo>
                    <a:lnTo>
                      <a:pt x="76200" y="0"/>
                    </a:lnTo>
                    <a:lnTo>
                      <a:pt x="140627" y="0"/>
                    </a:lnTo>
                    <a:cubicBezTo>
                      <a:pt x="147841" y="4"/>
                      <a:pt x="154433" y="4082"/>
                      <a:pt x="157658" y="10535"/>
                    </a:cubicBezTo>
                    <a:lnTo>
                      <a:pt x="185242" y="65665"/>
                    </a:lnTo>
                    <a:cubicBezTo>
                      <a:pt x="188467" y="72118"/>
                      <a:pt x="195059" y="76196"/>
                      <a:pt x="202273" y="76200"/>
                    </a:cubicBezTo>
                    <a:lnTo>
                      <a:pt x="228600" y="76200"/>
                    </a:lnTo>
                    <a:lnTo>
                      <a:pt x="228600" y="38100"/>
                    </a:lnTo>
                    <a:lnTo>
                      <a:pt x="266700" y="38100"/>
                    </a:lnTo>
                    <a:cubicBezTo>
                      <a:pt x="277221" y="38100"/>
                      <a:pt x="285750" y="46629"/>
                      <a:pt x="285750" y="57150"/>
                    </a:cubicBezTo>
                    <a:lnTo>
                      <a:pt x="285750" y="171450"/>
                    </a:lnTo>
                    <a:cubicBezTo>
                      <a:pt x="285750" y="181971"/>
                      <a:pt x="277221" y="190500"/>
                      <a:pt x="266700" y="190500"/>
                    </a:cubicBezTo>
                    <a:lnTo>
                      <a:pt x="228600" y="190500"/>
                    </a:lnTo>
                    <a:lnTo>
                      <a:pt x="228600" y="152400"/>
                    </a:lnTo>
                    <a:lnTo>
                      <a:pt x="171450" y="152400"/>
                    </a:lnTo>
                    <a:lnTo>
                      <a:pt x="171450" y="190500"/>
                    </a:lnTo>
                    <a:cubicBezTo>
                      <a:pt x="171450" y="201021"/>
                      <a:pt x="162921" y="209550"/>
                      <a:pt x="152400" y="209550"/>
                    </a:cubicBezTo>
                    <a:lnTo>
                      <a:pt x="86392" y="209550"/>
                    </a:lnTo>
                    <a:cubicBezTo>
                      <a:pt x="80024" y="209551"/>
                      <a:pt x="74076" y="206370"/>
                      <a:pt x="70542" y="201073"/>
                    </a:cubicBez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66442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技术实现架构与外部生态集成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71500" y="1428750"/>
            <a:ext cx="11049000" cy="4762500"/>
            <a:chOff x="571500" y="1428750"/>
            <a:chExt cx="11049000" cy="4762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5143500" cy="2667000"/>
            </a:xfrm>
            <a:prstGeom prst="roundRect">
              <a:avLst>
                <a:gd name="adj" fmla="val 5714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346" y="1645920"/>
              <a:ext cx="363980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前端能力 (React/Vite)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481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5890" y="2425065"/>
              <a:ext cx="19539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SPA 单页应用架构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052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890" y="2996565"/>
              <a:ext cx="34781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docx.js 浏览器端生成Word文档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624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5890" y="3568065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本地缓存与日程计算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929312" y="2524125"/>
              <a:ext cx="333375" cy="285750"/>
              <a:chOff x="5929312" y="252412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929312" y="26670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19812" y="26670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19812" y="25241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6477000" y="1428750"/>
              <a:ext cx="5143500" cy="2667000"/>
            </a:xfrm>
            <a:prstGeom prst="roundRect">
              <a:avLst>
                <a:gd name="adj" fmla="val 5714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64076" y="1645920"/>
              <a:ext cx="31693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后端服务 (Express)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6675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929438" y="23860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11390" y="23298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同一进程内外双角色兼顾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929438" y="2862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11390" y="2806065"/>
              <a:ext cx="353815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HMAC-SHA256 安全签名认证机制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929438" y="33385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11390" y="3282315"/>
              <a:ext cx="28780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JSZip 服务端批量渲染文书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9294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11390" y="37585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轻量级模型接口与失败降级策略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476750"/>
              <a:ext cx="11049000" cy="1714500"/>
            </a:xfrm>
            <a:prstGeom prst="roundRect">
              <a:avLst>
                <a:gd name="adj" fmla="val 8889"/>
              </a:avLst>
            </a:prstGeom>
            <a:solidFill>
              <a:srgbClr val="1E3A5F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85309" y="4532323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外部生态接入与数据源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00100" y="498348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53490" y="5162550"/>
              <a:ext cx="304800" cy="342900"/>
              <a:chOff x="1253490" y="5162550"/>
              <a:chExt cx="304800" cy="342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253490" y="51625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53490" y="5202555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53490" y="53340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87830" y="5159068"/>
              <a:ext cx="941841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飞书多维表格: 作为核心主数据源，支持按表名自动匹配或环境变量兜底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238250" y="5634990"/>
              <a:ext cx="266700" cy="371475"/>
              <a:chOff x="1238250" y="5634990"/>
              <a:chExt cx="266700" cy="3714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314450" y="563499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38250" y="578739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295400" y="599694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371600" y="592074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687830" y="5629275"/>
              <a:ext cx="91978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飞书妙记及自动化回调: 提供高精度 ASR 录音识别与事件回调写回支持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44682" y="652473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l="388" r="38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53555" y="1508760"/>
            <a:ext cx="11684889" cy="2263140"/>
            <a:chOff x="253555" y="1508760"/>
            <a:chExt cx="11684889" cy="2263140"/>
          </a:xfrm>
        </p:grpSpPr>
        <p:sp>
          <p:nvSpPr>
            <p:cNvPr id="4" name="TextBox 4"/>
            <p:cNvSpPr txBox="1"/>
            <p:nvPr/>
          </p:nvSpPr>
          <p:spPr>
            <a:xfrm>
              <a:off x="3273111" y="1508760"/>
              <a:ext cx="564577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敬请批评指正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524500" y="2667000"/>
              <a:ext cx="1143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53555" y="3040380"/>
              <a:ext cx="116848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三会智理：将重复繁琐自动化，提高用户间通信效率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1621</Words>
  <Application>Microsoft Macintosh PowerPoint</Application>
  <PresentationFormat>宽屏</PresentationFormat>
  <Paragraphs>73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管贝嘉</cp:lastModifiedBy>
  <cp:revision>2</cp:revision>
  <dcterms:created xsi:type="dcterms:W3CDTF">2026-07-21T08:07:16Z</dcterms:created>
  <dcterms:modified xsi:type="dcterms:W3CDTF">2026-07-21T08:09:34Z</dcterms:modified>
  <cp:category/>
  <cp:contentStatus/>
  <dc:language/>
</cp:coreProperties>
</file>