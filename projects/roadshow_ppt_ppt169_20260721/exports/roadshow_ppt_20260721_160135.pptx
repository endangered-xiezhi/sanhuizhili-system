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委老师好，我们组的产品叫三会智理，它是一个面向上市企业会议管理的网页应用，专门服务股东会、董事会和监事会（也就是“三会”），以及其他会议的日常管理工作。在许多公司尤其是待上市公司中，以三会为主的会务工作对企业负担较重。从规划到记录的全过程繁琐、合规风险高。法务和董秘需要核对通知期限、要整理与会人员名单和会议纪要，还要准备全套通知、议程、签到表、决议等文书，最后归档留存。这些工作大量依赖人工，且容错率非常低，合规瑕疵就意味着法律风险和经济损失。三会智理旨在将整套流程自动化，并且预测合规风险供用户调整会议安排、修改会议文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会智理是一个全栈网页应用，前端用React构建界面，后端用Express提供接口，两者部署在同一个服务里，可以直接在云平台上运行。系统选择飞书多维表格作为数据中台，意味着会议信息、人员信息、议案、文书等数据不是孤立地存在于我们自己的数据库中，而是实时读写在客户的飞书表格中，方便企业的其他系统和人员协同查看。打开网页，第一个板块是全局控制台，待办会议数、已生成文书数、法定通知预警、与会人员总数四个核心指标在最醒目的位置，配合按会议类型着色的日历视图，让用户对于临期会议、合规指数较低的会议一目了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议管理模块负责会议的创建和维护。创建会议时，系统会根据选择的会议类型自动提示对应的法定门槛，比如临时股东会需要持股10%以上的股东提议才能召开，这类规则直接写进了创建流程中。与会人员的选择也做了优先级排序，董事、监事、高管、股东依次排列，股东还会自动标注持股比例。会议信息保存后实时同步到飞书表格，如果飞书那边还没有对应字段，系统会友好地提示并把数据先存在本地。</a:t>
            </a:r>
          </a:p>
          <a:p>
            <a:r>
              <a:rPr lang="zh-CN" dirty="0"/>
              <a:t>会议结束后，录音工作台负责将音频与会议纪要转成规范文档。它支持上传文稿与录音文件，后者使用飞书妙记的转写功能。转写完成后，系统能把飞书里该会议的基本信息、录音识别文件和已有议案自动关联，明确标出待补齐的内容。生成的文本可以按照国标文档规范预览和编辑，最后一键导出成Word文件，也可以推送到文书中心继续加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书中心是承担核心产出的模块。它提供会议通知、议程、签到表、决议、纪要、公告等多种文书模板，支持在线编辑和实时预览，最终可以导出成Word或PDF。这个模块和会议管理、录音工作台双向联动。系统在服务端准备了一整套Word模板，可以直接用飞书里的会议数据批量渲染，把一场会议需要的全部文书打包成压缩包下载，股东会对应9份文书，董事会和监事会各对应6份。</a:t>
            </a:r>
          </a:p>
          <a:p>
            <a:r>
              <a:rPr lang="zh-CN" dirty="0"/>
              <a:t>与会人员模块管理董监高和股东的完整信息，包括任期、独立性声明、关联关系、持股比例。这个模块也做了自动化的合规检测：比如系统规定董事和高级管理人员不能兼任监事；独立董事占比会自动计算并和监管要求的33%比较；每个人的任期兼剩余天数也会自动标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我想重点讲一下合规审查模块，这是我们认为最能体现产品价值的部分。在合规场景中，AI最大的风险是信息准确度不足，轻度的法律风险也可能造成极大损失。因此，我们在合规审查上设计了两条通道。第一条通道基于大模型做自由文本分析，生成一份可读性强的综合报告。第二条通道，是一个不依赖大模型的规则引擎。它从上传的文件和飞书里的会议上下文中，用规则化的方式提取事实，然后逐条对照公司法的具体条款生成风险项，并给出一个0到100的合规指数。该引擎的设计原则是只依据当前材料下结论，如果某项信息缺失，就明确标注为“无法判断”。审查结论必须可回溯，每一条风险评价都能追溯到具体的规则和事实，而不是一个黑箱式的评分。推理链条完全透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从实现的角度看，整个系统是一个前后端运行在同一进程里的 Express 应用：浏览器端的 React 单页应用直接向后端接口发起请求，同时保留一部分纯前端能力，比如用 docx.js 在浏览器端直接生成 Word 文件。后端的核心是飞书接入这一层，负责获取和缓存访问令牌、读写多维表格记录，这一层做了容错设计：默认按表名自动匹配，也支持用环境变量手动指定。外部集成方面，飞书多维表格和妙记是系统的主数据源，签名认证部分是自行实现的HMAC-SHA256签名算法。文书批量生成模块在服务端用JSZip读取预先准备好的Word母版文件做占位符替换和循环展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综上所述，三会智理旨在将重复繁琐、容错率低的企业会务工作进行自动化执行和合规审查，并通过借助深度融入飞书生态提高本产品的用户间通信效率。感谢各位垂听，请各位评委老师批评指正。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80060" y="2270760"/>
            <a:ext cx="9210294" cy="3834765"/>
            <a:chOff x="480060" y="2270760"/>
            <a:chExt cx="9210294" cy="3834765"/>
          </a:xfrm>
        </p:grpSpPr>
        <p:sp>
          <p:nvSpPr>
            <p:cNvPr id="4" name="TextBox 4"/>
            <p:cNvSpPr txBox="1"/>
            <p:nvPr/>
          </p:nvSpPr>
          <p:spPr>
            <a:xfrm>
              <a:off x="480060" y="2270760"/>
              <a:ext cx="4215384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三会智理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3619500"/>
              <a:ext cx="762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25780" y="3897630"/>
              <a:ext cx="916457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面向上市企业的三会管理与智能合规平台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830" y="5678805"/>
              <a:ext cx="401583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08090"/>
                  </a:solidFill>
                  <a:latin typeface="Times New Roman"/>
                  <a:ea typeface="KaiTi"/>
                  <a:cs typeface="Times New Roman"/>
                </a:rPr>
                <a:t>将流程自动化 · 将合规交予规则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9" name="Group 9"/>
            <p:cNvGrpSpPr/>
            <p:nvPr/>
          </p:nvGrpSpPr>
          <p:grpSpPr>
            <a:xfrm>
              <a:off x="647700" y="552450"/>
              <a:ext cx="304800" cy="304800"/>
              <a:chOff x="647700" y="552450"/>
              <a:chExt cx="304800" cy="3048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23900" y="628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47700" y="5524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66700" y="0"/>
                    </a:lnTo>
                    <a:cubicBezTo>
                      <a:pt x="287742" y="0"/>
                      <a:pt x="304800" y="17058"/>
                      <a:pt x="304800" y="38100"/>
                    </a:cubicBezTo>
                    <a:lnTo>
                      <a:pt x="304800" y="266700"/>
                    </a:lnTo>
                    <a:cubicBezTo>
                      <a:pt x="304800" y="287742"/>
                      <a:pt x="287742" y="304800"/>
                      <a:pt x="266700" y="304800"/>
                    </a:cubicBez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76300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0"/>
                    </a:moveTo>
                    <a:lnTo>
                      <a:pt x="62865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76300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62865"/>
                    </a:moveTo>
                    <a:lnTo>
                      <a:pt x="6286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1035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6286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61035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97280" y="430530"/>
              <a:ext cx="808083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产品概述: 全栈驱动与飞书数据中台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71500" y="1428750"/>
            <a:ext cx="11049000" cy="1504950"/>
            <a:chOff x="571500" y="1428750"/>
            <a:chExt cx="11049000" cy="150495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2A2A38"/>
            </a:solidFill>
            <a:ln w="28575">
              <a:solidFill>
                <a:srgbClr val="1E3A5F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85938" y="1714500"/>
              <a:ext cx="428625" cy="381000"/>
              <a:chOff x="1785938" y="1714500"/>
              <a:chExt cx="428625" cy="38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785938" y="171450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785938" y="190500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881188" y="1809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81188" y="2000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86035" y="2217420"/>
              <a:ext cx="222843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全栈 Web 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7274" y="2567940"/>
              <a:ext cx="19059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React + Express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738562" y="2000250"/>
              <a:ext cx="333375" cy="285750"/>
              <a:chOff x="3738562" y="2000250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738562" y="2143125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29062" y="21431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29062" y="2000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4381500" y="1428750"/>
              <a:ext cx="3429000" cy="1428750"/>
            </a:xfrm>
            <a:prstGeom prst="roundRect">
              <a:avLst>
                <a:gd name="adj" fmla="val 10667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158482" y="1645920"/>
              <a:ext cx="387503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全局控制台 (Dashboard)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4973" y="2091690"/>
              <a:ext cx="2722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核心指标监控 + 日历视图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2945" y="2472690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临期预警与合规指数一目了然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120062" y="2000250"/>
              <a:ext cx="333375" cy="285750"/>
              <a:chOff x="8120062" y="2000250"/>
              <a:chExt cx="333375" cy="2857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120062" y="2143125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10562" y="21431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10562" y="2000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8763000" y="1428750"/>
              <a:ext cx="2857500" cy="1428750"/>
            </a:xfrm>
            <a:prstGeom prst="roundRect">
              <a:avLst>
                <a:gd name="adj" fmla="val 10667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001250" y="1690688"/>
              <a:ext cx="381000" cy="428624"/>
              <a:chOff x="10001250" y="1690688"/>
              <a:chExt cx="381000" cy="4286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001250" y="1690688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0" y="71438"/>
                    </a:moveTo>
                    <a:cubicBezTo>
                      <a:pt x="0" y="110891"/>
                      <a:pt x="85290" y="142875"/>
                      <a:pt x="190500" y="142875"/>
                    </a:cubicBezTo>
                    <a:cubicBezTo>
                      <a:pt x="295710" y="142875"/>
                      <a:pt x="381000" y="110891"/>
                      <a:pt x="381000" y="71438"/>
                    </a:cubicBezTo>
                    <a:cubicBezTo>
                      <a:pt x="381000" y="31984"/>
                      <a:pt x="295710" y="0"/>
                      <a:pt x="190500" y="0"/>
                    </a:cubicBezTo>
                    <a:cubicBezTo>
                      <a:pt x="85290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01250" y="1762125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01250" y="1905000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53144" y="221742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飞书多维表格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48725" y="2567940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实时读写的核心数据中台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810000"/>
            <a:ext cx="10477500" cy="1143000"/>
            <a:chOff x="571500" y="3810000"/>
            <a:chExt cx="104775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571500" y="3810000"/>
              <a:ext cx="10477500" cy="11430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10000"/>
              </a:srgbClr>
            </a:solidFill>
            <a:ln w="19050">
              <a:solidFill>
                <a:srgbClr val="1565C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71562" y="4262438"/>
              <a:ext cx="357188" cy="238125"/>
            </a:xfrm>
            <a:custGeom>
              <a:avLst/>
              <a:gdLst/>
              <a:ahLst/>
              <a:cxnLst/>
              <a:rect l="l" t="t" r="r" b="b"/>
              <a:pathLst>
                <a:path w="357188" h="238125">
                  <a:moveTo>
                    <a:pt x="0" y="119062"/>
                  </a:moveTo>
                  <a:lnTo>
                    <a:pt x="119062" y="238125"/>
                  </a:lnTo>
                  <a:lnTo>
                    <a:pt x="357188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80210" y="4185285"/>
              <a:ext cx="838562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非孤立数据库架构：与企业现有系统人员无缝协同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40" grpId="0"/>
      <p:bldP spid="44" grpId="0"/>
      <p:bldP spid="45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7" name="Group 7"/>
            <p:cNvGrpSpPr/>
            <p:nvPr/>
          </p:nvGrpSpPr>
          <p:grpSpPr>
            <a:xfrm>
              <a:off x="666750" y="514350"/>
              <a:ext cx="266700" cy="371475"/>
              <a:chOff x="666750" y="514350"/>
              <a:chExt cx="266700" cy="3714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42950" y="51435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6667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23900" y="8763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00100" y="8001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097280" y="430530"/>
              <a:ext cx="757677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核心功能: 会议管理与录音工作台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71500" y="1428750"/>
            <a:ext cx="10905934" cy="3333750"/>
            <a:chOff x="571500" y="1428750"/>
            <a:chExt cx="10905934" cy="3333750"/>
          </a:xfrm>
        </p:grpSpPr>
        <p:sp>
          <p:nvSpPr>
            <p:cNvPr id="11" name="Rectangle 11"/>
            <p:cNvSpPr/>
            <p:nvPr/>
          </p:nvSpPr>
          <p:spPr>
            <a:xfrm>
              <a:off x="571500" y="1428750"/>
              <a:ext cx="4762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843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会议管理模块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" y="2286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02080" y="2583180"/>
              <a:ext cx="43238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自动提示法定门槛 (如10%提议权)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02080" y="3154680"/>
              <a:ext cx="313372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与会人员智能排序与标记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02080" y="3726180"/>
              <a:ext cx="397383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数据容错存盘，防字段缺失丢失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683250" y="3000375"/>
              <a:ext cx="444500" cy="381000"/>
              <a:chOff x="5683250" y="3000375"/>
              <a:chExt cx="444500" cy="381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683250" y="3190875"/>
                <a:ext cx="444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0" h="9525">
                    <a:moveTo>
                      <a:pt x="0" y="0"/>
                    </a:moveTo>
                    <a:lnTo>
                      <a:pt x="444500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5937250" y="31908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19050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5937250" y="30003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19050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6477000" y="1428750"/>
              <a:ext cx="4762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D4AF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78842" y="17087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录音工作台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53250" y="2286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929438" y="2600325"/>
              <a:ext cx="200025" cy="280988"/>
              <a:chOff x="6929438" y="2600325"/>
              <a:chExt cx="200025" cy="2809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86588" y="260032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929438" y="271462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72300" y="28717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29450" y="28146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307580" y="2583180"/>
              <a:ext cx="348376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集成飞书妙记 ASR 语音转写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915150" y="3200400"/>
              <a:ext cx="228600" cy="228600"/>
              <a:chOff x="6915150" y="3200400"/>
              <a:chExt cx="228600" cy="228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972300" y="3257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15150" y="3200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6600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0"/>
                    </a:moveTo>
                    <a:lnTo>
                      <a:pt x="47149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86600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47149"/>
                    </a:moveTo>
                    <a:lnTo>
                      <a:pt x="47149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25151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4714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25151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0"/>
                    </a:moveTo>
                    <a:lnTo>
                      <a:pt x="0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307580" y="3154680"/>
              <a:ext cx="36937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识别文本与议案自动关联对齐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6929438" y="3757612"/>
              <a:ext cx="200025" cy="257175"/>
              <a:chOff x="6929438" y="3757612"/>
              <a:chExt cx="200025" cy="2571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058025" y="37576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9438" y="375761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71450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228600"/>
                    </a:lnTo>
                    <a:cubicBezTo>
                      <a:pt x="200025" y="244382"/>
                      <a:pt x="187232" y="257175"/>
                      <a:pt x="171450" y="257175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86588" y="3843338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86588" y="39004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86588" y="39576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307580" y="3726180"/>
              <a:ext cx="416985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在线预览、排版并导出国标 Word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48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66750" y="533400"/>
              <a:ext cx="266700" cy="342900"/>
              <a:chOff x="666750" y="533400"/>
              <a:chExt cx="266700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38200" y="533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53340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42950" y="6477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42950" y="7239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2950" y="8001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563613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文书中心与与会人员管理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71500" y="1428750"/>
            <a:ext cx="10835926" cy="3333750"/>
            <a:chOff x="571500" y="1428750"/>
            <a:chExt cx="10835926" cy="333375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4762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3591" y="1708785"/>
              <a:ext cx="43783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文书中心 (一键打包成卷)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286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2080" y="2583180"/>
              <a:ext cx="397383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涵盖会议通知、议程、签到表等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2080" y="3154680"/>
              <a:ext cx="36937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支持在线编辑与实时预览导出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2080" y="3726180"/>
              <a:ext cx="428186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法定对应：股东会9份，董监会6份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428750"/>
              <a:ext cx="4762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898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与会人员矩阵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953250" y="2286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81581" y="2614612"/>
              <a:ext cx="279010" cy="257176"/>
              <a:chOff x="6881581" y="2614612"/>
              <a:chExt cx="279010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881581" y="2614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72312" y="2814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307580" y="2583180"/>
              <a:ext cx="36937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董监高及股东任职与持股信息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881581" y="3186112"/>
              <a:ext cx="279010" cy="257176"/>
              <a:chOff x="6881581" y="3186112"/>
              <a:chExt cx="279010" cy="2571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881581" y="31861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72312" y="33861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307580" y="3154680"/>
              <a:ext cx="409984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自动化合规：独董占比 33% 校验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881581" y="3757612"/>
              <a:ext cx="279010" cy="257176"/>
              <a:chOff x="6881581" y="3757612"/>
              <a:chExt cx="279010" cy="2571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81581" y="3757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72312" y="3957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307580" y="3726180"/>
              <a:ext cx="36937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任期兼职互斥拦截与到期预警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5" name="Group 5"/>
            <p:cNvGrpSpPr/>
            <p:nvPr/>
          </p:nvGrpSpPr>
          <p:grpSpPr>
            <a:xfrm>
              <a:off x="602941" y="533400"/>
              <a:ext cx="372013" cy="342900"/>
              <a:chOff x="602941" y="533400"/>
              <a:chExt cx="372013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02941" y="53340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57250" y="8001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097280" y="430530"/>
              <a:ext cx="90889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核心壁垒: 透明可追溯的合规双通道审查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1428750"/>
            <a:ext cx="10589895" cy="4476750"/>
            <a:chOff x="571500" y="1428750"/>
            <a:chExt cx="10589895" cy="4476750"/>
          </a:xfrm>
        </p:grpSpPr>
        <p:sp>
          <p:nvSpPr>
            <p:cNvPr id="9" name="Rectangle 9"/>
            <p:cNvSpPr/>
            <p:nvPr/>
          </p:nvSpPr>
          <p:spPr>
            <a:xfrm>
              <a:off x="571500" y="1428750"/>
              <a:ext cx="4381500" cy="2095500"/>
            </a:xfrm>
            <a:prstGeom prst="roundRect">
              <a:avLst>
                <a:gd name="adj" fmla="val 7273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571750" y="1714500"/>
              <a:ext cx="381000" cy="381000"/>
              <a:chOff x="2571750" y="1714500"/>
              <a:chExt cx="381000" cy="38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667000" y="1809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0"/>
                    </a:lnTo>
                    <a:lnTo>
                      <a:pt x="0" y="1905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571750" y="1714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333375" y="0"/>
                    </a:lnTo>
                    <a:cubicBezTo>
                      <a:pt x="359678" y="0"/>
                      <a:pt x="381000" y="21322"/>
                      <a:pt x="381000" y="47625"/>
                    </a:cubicBezTo>
                    <a:lnTo>
                      <a:pt x="381000" y="333375"/>
                    </a:lnTo>
                    <a:cubicBezTo>
                      <a:pt x="381000" y="359678"/>
                      <a:pt x="359678" y="381000"/>
                      <a:pt x="333375" y="381000"/>
                    </a:cubicBezTo>
                    <a:lnTo>
                      <a:pt x="47625" y="381000"/>
                    </a:lnTo>
                    <a:cubicBezTo>
                      <a:pt x="21322" y="381000"/>
                      <a:pt x="0" y="359678"/>
                      <a:pt x="0" y="333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857500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857500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78581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588419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785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588419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0"/>
                    </a:moveTo>
                    <a:lnTo>
                      <a:pt x="0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244784" y="2312670"/>
              <a:ext cx="30349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通道一: 大模型辅助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120" y="2758440"/>
              <a:ext cx="43662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自由文本分析，生成可读性强的综合报告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309181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处理语义意图，快速了解整体情况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0" y="1428750"/>
              <a:ext cx="4381500" cy="2095500"/>
            </a:xfrm>
            <a:prstGeom prst="roundRect">
              <a:avLst>
                <a:gd name="adj" fmla="val 7273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643938" y="1738312"/>
              <a:ext cx="428625" cy="333377"/>
              <a:chOff x="8643938" y="1738312"/>
              <a:chExt cx="428625" cy="33337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643938" y="1857375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858250" y="173831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810625" y="1738312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643938" y="1928812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715375" y="1809750"/>
                <a:ext cx="357188" cy="261939"/>
              </a:xfrm>
              <a:custGeom>
                <a:avLst/>
                <a:gdLst/>
                <a:ahLst/>
                <a:cxnLst/>
                <a:rect l="l" t="t" r="r" b="b"/>
                <a:pathLst>
                  <a:path w="357188" h="261939">
                    <a:moveTo>
                      <a:pt x="0" y="47625"/>
                    </a:moveTo>
                    <a:lnTo>
                      <a:pt x="47625" y="47625"/>
                    </a:lnTo>
                    <a:lnTo>
                      <a:pt x="95250" y="0"/>
                    </a:lnTo>
                    <a:lnTo>
                      <a:pt x="175784" y="0"/>
                    </a:lnTo>
                    <a:cubicBezTo>
                      <a:pt x="184801" y="5"/>
                      <a:pt x="193042" y="5102"/>
                      <a:pt x="197072" y="13168"/>
                    </a:cubicBezTo>
                    <a:lnTo>
                      <a:pt x="231553" y="82082"/>
                    </a:lnTo>
                    <a:cubicBezTo>
                      <a:pt x="235583" y="90148"/>
                      <a:pt x="243824" y="95245"/>
                      <a:pt x="252841" y="95250"/>
                    </a:cubicBez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cubicBezTo>
                      <a:pt x="346526" y="47625"/>
                      <a:pt x="357188" y="58286"/>
                      <a:pt x="357188" y="71438"/>
                    </a:cubicBezTo>
                    <a:lnTo>
                      <a:pt x="357188" y="214312"/>
                    </a:lnTo>
                    <a:cubicBezTo>
                      <a:pt x="357188" y="227464"/>
                      <a:pt x="346526" y="238125"/>
                      <a:pt x="333375" y="238125"/>
                    </a:cubicBezTo>
                    <a:lnTo>
                      <a:pt x="285750" y="238125"/>
                    </a:lnTo>
                    <a:lnTo>
                      <a:pt x="285750" y="190500"/>
                    </a:lnTo>
                    <a:lnTo>
                      <a:pt x="214312" y="190500"/>
                    </a:lnTo>
                    <a:lnTo>
                      <a:pt x="214312" y="238125"/>
                    </a:lnTo>
                    <a:cubicBezTo>
                      <a:pt x="214312" y="251276"/>
                      <a:pt x="203651" y="261938"/>
                      <a:pt x="190500" y="261938"/>
                    </a:cubicBezTo>
                    <a:lnTo>
                      <a:pt x="107990" y="261938"/>
                    </a:lnTo>
                    <a:cubicBezTo>
                      <a:pt x="100030" y="261939"/>
                      <a:pt x="92595" y="257962"/>
                      <a:pt x="88178" y="251341"/>
                    </a:cubicBezTo>
                    <a:lnTo>
                      <a:pt x="47625" y="190500"/>
                    </a:lnTo>
                    <a:lnTo>
                      <a:pt x="0" y="190500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769513" y="2312670"/>
              <a:ext cx="417747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通道二: 规则引擎 (最核心)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5165" y="2758440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非黑箱：不依赖大模型，避免幻觉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55105" y="3091815"/>
              <a:ext cx="46062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基于正则和关键词提取客观事实并匹配法条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667375" y="3833812"/>
              <a:ext cx="285750" cy="333375"/>
              <a:chOff x="5667375" y="3833812"/>
              <a:chExt cx="285750" cy="3333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810250" y="3833812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810250" y="40243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667375" y="40243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4" name="Rectangle 34"/>
            <p:cNvSpPr/>
            <p:nvPr/>
          </p:nvSpPr>
          <p:spPr>
            <a:xfrm>
              <a:off x="2000250" y="4476750"/>
              <a:ext cx="7620000" cy="1428750"/>
            </a:xfrm>
            <a:prstGeom prst="roundRect">
              <a:avLst>
                <a:gd name="adj" fmla="val 10667"/>
              </a:avLst>
            </a:prstGeom>
            <a:solidFill>
              <a:srgbClr val="2A2A38"/>
            </a:solidFill>
            <a:ln w="3810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874447" y="4756785"/>
              <a:ext cx="58716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透明可回溯的 0-100 合规审查指数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89018" y="5297805"/>
              <a:ext cx="904246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推理链条完全透明：要素提取 -&gt; 法规匹配 -&gt; 交叉核验 -&gt; 风险评级卡片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28650" y="571500"/>
              <a:ext cx="342900" cy="266701"/>
              <a:chOff x="628650" y="571500"/>
              <a:chExt cx="342900" cy="2667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28650" y="6667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00100" y="5715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62000" y="571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28650" y="7239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5800" y="628650"/>
                <a:ext cx="285750" cy="20955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09551">
                    <a:moveTo>
                      <a:pt x="0" y="38100"/>
                    </a:moveTo>
                    <a:lnTo>
                      <a:pt x="38100" y="38100"/>
                    </a:lnTo>
                    <a:lnTo>
                      <a:pt x="76200" y="0"/>
                    </a:lnTo>
                    <a:lnTo>
                      <a:pt x="140627" y="0"/>
                    </a:lnTo>
                    <a:cubicBezTo>
                      <a:pt x="147841" y="4"/>
                      <a:pt x="154433" y="4082"/>
                      <a:pt x="157658" y="10535"/>
                    </a:cubicBezTo>
                    <a:lnTo>
                      <a:pt x="185242" y="65665"/>
                    </a:lnTo>
                    <a:cubicBezTo>
                      <a:pt x="188467" y="72118"/>
                      <a:pt x="195059" y="76196"/>
                      <a:pt x="202273" y="76200"/>
                    </a:cubicBezTo>
                    <a:lnTo>
                      <a:pt x="228600" y="76200"/>
                    </a:lnTo>
                    <a:lnTo>
                      <a:pt x="228600" y="38100"/>
                    </a:lnTo>
                    <a:lnTo>
                      <a:pt x="266700" y="38100"/>
                    </a:lnTo>
                    <a:cubicBezTo>
                      <a:pt x="277221" y="38100"/>
                      <a:pt x="285750" y="46629"/>
                      <a:pt x="285750" y="57150"/>
                    </a:cubicBezTo>
                    <a:lnTo>
                      <a:pt x="285750" y="171450"/>
                    </a:lnTo>
                    <a:cubicBezTo>
                      <a:pt x="285750" y="181971"/>
                      <a:pt x="277221" y="190500"/>
                      <a:pt x="266700" y="190500"/>
                    </a:cubicBezTo>
                    <a:lnTo>
                      <a:pt x="228600" y="190500"/>
                    </a:lnTo>
                    <a:lnTo>
                      <a:pt x="228600" y="152400"/>
                    </a:lnTo>
                    <a:lnTo>
                      <a:pt x="171450" y="152400"/>
                    </a:lnTo>
                    <a:lnTo>
                      <a:pt x="171450" y="190500"/>
                    </a:lnTo>
                    <a:cubicBezTo>
                      <a:pt x="171450" y="201021"/>
                      <a:pt x="162921" y="209550"/>
                      <a:pt x="152400" y="209550"/>
                    </a:cubicBezTo>
                    <a:lnTo>
                      <a:pt x="86392" y="209550"/>
                    </a:lnTo>
                    <a:cubicBezTo>
                      <a:pt x="80024" y="209551"/>
                      <a:pt x="74076" y="206370"/>
                      <a:pt x="70542" y="201073"/>
                    </a:cubicBezTo>
                    <a:lnTo>
                      <a:pt x="38100" y="152400"/>
                    </a:lnTo>
                    <a:lnTo>
                      <a:pt x="0" y="15240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664425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技术实现架构与外部生态集成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370846" y="1428750"/>
            <a:ext cx="12147481" cy="3076575"/>
            <a:chOff x="370846" y="1428750"/>
            <a:chExt cx="12147481" cy="3076575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3238500" cy="3048000"/>
            </a:xfrm>
            <a:prstGeom prst="roundRect">
              <a:avLst>
                <a:gd name="adj" fmla="val 5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0846" y="1645920"/>
              <a:ext cx="363980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前端能力 (React/Vite)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095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25500" y="24701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20140" y="2425065"/>
              <a:ext cx="19539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SPA 单页应用架构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25500" y="30416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0140" y="2996565"/>
              <a:ext cx="29020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docx.js 浏览器端直接生成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25500" y="36131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20140" y="3568065"/>
              <a:ext cx="32621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localStorage 缓存与日程提醒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024312" y="2714625"/>
              <a:ext cx="333375" cy="285750"/>
              <a:chOff x="4024312" y="271462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024312" y="28575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214812" y="28575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214812" y="2714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4572000" y="1428750"/>
              <a:ext cx="3238500" cy="3048000"/>
            </a:xfrm>
            <a:prstGeom prst="roundRect">
              <a:avLst>
                <a:gd name="adj" fmla="val 5000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606576" y="1645920"/>
              <a:ext cx="31693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后端服务 (Express)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762500" y="20955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826000" y="24701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20640" y="242506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同一进程内外双角色兼顾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826000" y="30416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20640" y="2996565"/>
              <a:ext cx="25780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HMAC-SHA256 签名认证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826000" y="36131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20640" y="3568065"/>
              <a:ext cx="29500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服务端 JSZip 批量文书渲染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4826000" y="41846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120640" y="413956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大模型接口失败降级机制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8024812" y="2714625"/>
              <a:ext cx="333375" cy="285750"/>
              <a:chOff x="8024812" y="2714625"/>
              <a:chExt cx="333375" cy="2857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024812" y="28575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15312" y="28575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15312" y="2714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40" name="Rectangle 40"/>
            <p:cNvSpPr/>
            <p:nvPr/>
          </p:nvSpPr>
          <p:spPr>
            <a:xfrm>
              <a:off x="8572500" y="1428750"/>
              <a:ext cx="2857500" cy="3048000"/>
            </a:xfrm>
            <a:prstGeom prst="roundRect">
              <a:avLst>
                <a:gd name="adj" fmla="val 5333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62644" y="164592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外部生态接入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763000" y="2095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826500" y="2428875"/>
              <a:ext cx="254000" cy="285750"/>
              <a:chOff x="8826500" y="2428875"/>
              <a:chExt cx="254000" cy="28575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826500" y="242887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826500" y="24765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826500" y="25717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9212580" y="2440305"/>
              <a:ext cx="299370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飞书多维表格主数据源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40140" y="2948940"/>
              <a:ext cx="37781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支持按表名自动匹配/环境变量兜底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8842375" y="3651250"/>
              <a:ext cx="222250" cy="311150"/>
              <a:chOff x="8842375" y="3651250"/>
              <a:chExt cx="222250" cy="31115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905875" y="3651250"/>
                <a:ext cx="9525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4625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127000"/>
                    </a:lnTo>
                    <a:cubicBezTo>
                      <a:pt x="95250" y="153303"/>
                      <a:pt x="73928" y="174625"/>
                      <a:pt x="47625" y="174625"/>
                    </a:cubicBezTo>
                    <a:cubicBezTo>
                      <a:pt x="21322" y="174625"/>
                      <a:pt x="0" y="153303"/>
                      <a:pt x="0" y="127000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42375" y="3778250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>
                    <a:moveTo>
                      <a:pt x="0" y="0"/>
                    </a:moveTo>
                    <a:cubicBezTo>
                      <a:pt x="0" y="61373"/>
                      <a:pt x="49752" y="111125"/>
                      <a:pt x="111125" y="111125"/>
                    </a:cubicBezTo>
                    <a:cubicBezTo>
                      <a:pt x="172498" y="111125"/>
                      <a:pt x="222250" y="61373"/>
                      <a:pt x="222250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890000" y="395287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953500" y="38893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212580" y="3678555"/>
              <a:ext cx="26996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飞书妙记及回调支持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55" grpId="0"/>
      <p:bldP spid="56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253555" y="1508760"/>
            <a:ext cx="11684889" cy="2263140"/>
            <a:chOff x="253555" y="1508760"/>
            <a:chExt cx="11684889" cy="2263140"/>
          </a:xfrm>
        </p:grpSpPr>
        <p:sp>
          <p:nvSpPr>
            <p:cNvPr id="4" name="TextBox 4"/>
            <p:cNvSpPr txBox="1"/>
            <p:nvPr/>
          </p:nvSpPr>
          <p:spPr>
            <a:xfrm>
              <a:off x="459867" y="1508760"/>
              <a:ext cx="11272266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谢谢聆听，敬请批评指正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524500" y="2667000"/>
              <a:ext cx="1143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53555" y="3040380"/>
              <a:ext cx="116848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三会智理：将重复繁琐自动化，提高用户间通信效率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2026-07-21T08:01:35Z</dcterms:created>
  <dcterms:modified xsi:type="dcterms:W3CDTF">2026-07-21T08:01:35Z</dcterms:modified>
  <cp:category/>
  <cp:contentStatus/>
</cp:coreProperties>
</file>