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尊敬的各位评委、投资人，大家好。今天我为您带来的项目是《三会智理：将繁琐留给系统，将合规交予规则》。在当前强监管的市场环境下，公司治理的合规性已成为企业生存的红线。我们通过智能化手段，致力于打造新一代的智能合规基础设施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，我们来看传统公司治理面临的困境。当前很多企业的合规审查高度依赖人工，不仅耗时长，而且历史决议难以追溯。加上信息多端流转，一旦忽略了合规红线，就会导致极高的法律风险。这也是我们开发三会智理的初衷，我们希望用系统替代人工排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此，我们构建了大模型加规则引擎的双通道审查体系。规则引擎就像是刚性的防火墙，处理表决人数、决议期限等明确法定的绝对红线；而大模型则作为柔性辅助，处理语义模糊的意图识别与风险提示。两者结合，实现精准合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在技术壁垒方面，我们深度绑定飞书生态，实现数据本地化处理，核心数据不出域。我们的系统将飞书多维表格直接作为数据底座与操作前端，不仅降低了用户的学习成本，更保障了企业最高机密的数据安全。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典型使用场景中，系统满足议题申报、会议表决、会后归档的全流程闭环。第一，智能审查议题文本中的风险点；第二，根据表决结果一键生成标准格式的决议文件，大幅减少撰写时间；第三，与历史数据进行风险关联，形成企业治理的数字资产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关于商业模式与未来演进，我们采用轻量化部署的 SaaS 订阅制，向企业客户按需提供服务，这保证了我们收入的稳健可持续。未来，我们将以“三会”为核心切入点，逐步向投融资合规审查和劳动用工合规管理延展，打造全方位的合规矩阵。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以上就是我们《三会智理》项目的核心汇报内容。我们将技术创新与法律合规深度融合，期待能与在座的各位共建智能合规新纪元。谢谢大家的聆听！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a0e17b268e8107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20000"/>
                </a:srgbClr>
              </a:gs>
              <a:gs pos="100000">
                <a:srgbClr val="1A1A24">
                  <a:alpha val="9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2920" y="2274570"/>
            <a:ext cx="5773579" cy="3569018"/>
            <a:chOff x="502920" y="2274570"/>
            <a:chExt cx="5773579" cy="3569018"/>
          </a:xfrm>
        </p:grpSpPr>
        <p:sp>
          <p:nvSpPr>
            <p:cNvPr id="4" name="TextBox 4"/>
            <p:cNvSpPr txBox="1"/>
            <p:nvPr/>
          </p:nvSpPr>
          <p:spPr>
            <a:xfrm>
              <a:off x="502920" y="2274570"/>
              <a:ext cx="31615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三会智理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3238500"/>
              <a:ext cx="5715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3423285"/>
              <a:ext cx="57392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将繁琐留给系统，将合规交予规则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4355" y="5569268"/>
              <a:ext cx="8893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90"/>
                  </a:solidFill>
                  <a:latin typeface="Times New Roman"/>
                  <a:ea typeface="KaiTi"/>
                  <a:cs typeface="Times New Roman"/>
                </a:rPr>
                <a:t>2026年7月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451485"/>
            <a:ext cx="11049000" cy="548640"/>
            <a:chOff x="571500" y="451485"/>
            <a:chExt cx="11049000" cy="548640"/>
          </a:xfrm>
        </p:grpSpPr>
        <p:grpSp>
          <p:nvGrpSpPr>
            <p:cNvPr id="9" name="Group 9"/>
            <p:cNvGrpSpPr/>
            <p:nvPr/>
          </p:nvGrpSpPr>
          <p:grpSpPr>
            <a:xfrm>
              <a:off x="628650" y="533400"/>
              <a:ext cx="228600" cy="228600"/>
              <a:chOff x="628650" y="533400"/>
              <a:chExt cx="228600" cy="2286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85800" y="590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28650" y="533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00100" y="704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0"/>
                    </a:moveTo>
                    <a:lnTo>
                      <a:pt x="47149" y="4714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543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47149"/>
                    </a:moveTo>
                    <a:lnTo>
                      <a:pt x="4714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38651" y="543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4714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38651" y="704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0"/>
                    </a:moveTo>
                    <a:lnTo>
                      <a:pt x="0" y="4714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13460" y="4514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传统公司治理的困境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524000"/>
            <a:ext cx="5334000" cy="3810000"/>
            <a:chOff x="571500" y="1524000"/>
            <a:chExt cx="5334000" cy="3810000"/>
          </a:xfrm>
        </p:grpSpPr>
        <p:sp>
          <p:nvSpPr>
            <p:cNvPr id="13" name="Rectangle 13"/>
            <p:cNvSpPr/>
            <p:nvPr/>
          </p:nvSpPr>
          <p:spPr>
            <a:xfrm>
              <a:off x="5715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1524000"/>
              <a:ext cx="76200" cy="3810000"/>
            </a:xfrm>
            <a:prstGeom prst="rect">
              <a:avLst/>
            </a:prstGeom>
            <a:solidFill>
              <a:srgbClr val="C41E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8210" y="21850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传统合规依靠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8210" y="26612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人工排查，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8210" y="3137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效率低下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8210" y="3613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且容易出错。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524000"/>
            <a:ext cx="5334000" cy="3810000"/>
            <a:chOff x="6286500" y="1524000"/>
            <a:chExt cx="5334000" cy="3810000"/>
          </a:xfrm>
        </p:grpSpPr>
        <p:grpSp>
          <p:nvGrpSpPr>
            <p:cNvPr id="25" name="Group 25"/>
            <p:cNvGrpSpPr/>
            <p:nvPr/>
          </p:nvGrpSpPr>
          <p:grpSpPr>
            <a:xfrm>
              <a:off x="6286500" y="1524000"/>
              <a:ext cx="5334000" cy="1047750"/>
              <a:chOff x="6286500" y="1524000"/>
              <a:chExt cx="5334000" cy="1047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286500" y="15240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2A2A38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6667500" y="1952625"/>
                <a:ext cx="190500" cy="190500"/>
                <a:chOff x="6667500" y="1952625"/>
                <a:chExt cx="190500" cy="1905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6667500" y="195262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C41E3A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667500" y="195262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9050">
                  <a:solidFill>
                    <a:srgbClr val="C41E3A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7120890" y="1920240"/>
                <a:ext cx="3886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8F9FA"/>
                    </a:solidFill>
                    <a:latin typeface="Times New Roman"/>
                    <a:ea typeface="KaiTi"/>
                    <a:cs typeface="Times New Roman"/>
                  </a:rPr>
                  <a:t>人工审查耗时长，历史决议难追溯。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2905125"/>
              <a:ext cx="5334000" cy="1047750"/>
              <a:chOff x="6286500" y="2905125"/>
              <a:chExt cx="5334000" cy="10477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286500" y="2905125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2A2A38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6667500" y="3333750"/>
                <a:ext cx="190500" cy="190500"/>
                <a:chOff x="6667500" y="3333750"/>
                <a:chExt cx="190500" cy="1905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667500" y="3333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C41E3A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67500" y="3333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9050">
                  <a:solidFill>
                    <a:srgbClr val="C41E3A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7120890" y="3301365"/>
                <a:ext cx="34061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8F9FA"/>
                    </a:solidFill>
                    <a:latin typeface="Times New Roman"/>
                    <a:ea typeface="KaiTi"/>
                    <a:cs typeface="Times New Roman"/>
                  </a:rPr>
                  <a:t>多端协同信息零散，缺乏统筹。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86500" y="4286250"/>
              <a:ext cx="5334000" cy="1047750"/>
              <a:chOff x="6286500" y="4286250"/>
              <a:chExt cx="5334000" cy="10477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428625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2A2A38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6667500" y="4714875"/>
                <a:ext cx="190500" cy="190500"/>
                <a:chOff x="6667500" y="4714875"/>
                <a:chExt cx="190500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667500" y="47148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C41E3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667500" y="47148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9050">
                  <a:solidFill>
                    <a:srgbClr val="C41E3A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7120890" y="4682490"/>
                <a:ext cx="436626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8F9FA"/>
                    </a:solidFill>
                    <a:latin typeface="Times New Roman"/>
                    <a:ea typeface="KaiTi"/>
                    <a:cs typeface="Times New Roman"/>
                  </a:rPr>
                  <a:t>合规红线易被忽略，存在极高法律风险。</a:t>
                </a:r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560070" y="6475095"/>
            <a:ext cx="1090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77054" y="64750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9" grpId="0"/>
      <p:bldP spid="38" grpId="0"/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451485"/>
            <a:ext cx="11049000" cy="548640"/>
            <a:chOff x="571500" y="451485"/>
            <a:chExt cx="11049000" cy="548640"/>
          </a:xfrm>
        </p:grpSpPr>
        <p:grpSp>
          <p:nvGrpSpPr>
            <p:cNvPr id="5" name="Group 5"/>
            <p:cNvGrpSpPr/>
            <p:nvPr/>
          </p:nvGrpSpPr>
          <p:grpSpPr>
            <a:xfrm>
              <a:off x="595081" y="519112"/>
              <a:ext cx="279010" cy="257176"/>
              <a:chOff x="595081" y="519112"/>
              <a:chExt cx="279010" cy="257176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595081" y="5191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785812" y="7191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13460" y="451485"/>
              <a:ext cx="51911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大模型+规则引擎的双通道审查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524000"/>
            <a:ext cx="11049000" cy="1143000"/>
            <a:chOff x="571500" y="1524000"/>
            <a:chExt cx="11049000" cy="1143000"/>
          </a:xfrm>
        </p:grpSpPr>
        <p:sp>
          <p:nvSpPr>
            <p:cNvPr id="9" name="Rectangle 9"/>
            <p:cNvSpPr/>
            <p:nvPr/>
          </p:nvSpPr>
          <p:spPr>
            <a:xfrm>
              <a:off x="571500" y="15240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524000"/>
              <a:ext cx="11049000" cy="1143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84322" y="1953101"/>
              <a:ext cx="742335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结合确定的规则引擎和兜底的大模型能力，实现精准合规。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048000"/>
            <a:ext cx="5334000" cy="2476500"/>
            <a:chOff x="571500" y="3048000"/>
            <a:chExt cx="5334000" cy="2476500"/>
          </a:xfrm>
        </p:grpSpPr>
        <p:sp>
          <p:nvSpPr>
            <p:cNvPr id="13" name="Rectangle 13"/>
            <p:cNvSpPr/>
            <p:nvPr/>
          </p:nvSpPr>
          <p:spPr>
            <a:xfrm>
              <a:off x="571500" y="304800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2A2A3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095625" y="3413125"/>
              <a:ext cx="285750" cy="222251"/>
              <a:chOff x="3095625" y="3413125"/>
              <a:chExt cx="285750" cy="2222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095625" y="34925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238500" y="34131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206750" y="341312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095625" y="35401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143250" y="3460750"/>
                <a:ext cx="238125" cy="174626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74626">
                    <a:moveTo>
                      <a:pt x="0" y="31750"/>
                    </a:moveTo>
                    <a:lnTo>
                      <a:pt x="31750" y="31750"/>
                    </a:lnTo>
                    <a:lnTo>
                      <a:pt x="63500" y="0"/>
                    </a:lnTo>
                    <a:lnTo>
                      <a:pt x="117189" y="0"/>
                    </a:lnTo>
                    <a:cubicBezTo>
                      <a:pt x="123201" y="3"/>
                      <a:pt x="128694" y="3402"/>
                      <a:pt x="131382" y="8779"/>
                    </a:cubicBezTo>
                    <a:lnTo>
                      <a:pt x="154368" y="54721"/>
                    </a:lnTo>
                    <a:cubicBezTo>
                      <a:pt x="157056" y="60098"/>
                      <a:pt x="162549" y="63497"/>
                      <a:pt x="168561" y="63500"/>
                    </a:cubicBezTo>
                    <a:lnTo>
                      <a:pt x="190500" y="63500"/>
                    </a:lnTo>
                    <a:lnTo>
                      <a:pt x="190500" y="31750"/>
                    </a:lnTo>
                    <a:lnTo>
                      <a:pt x="222250" y="31750"/>
                    </a:lnTo>
                    <a:cubicBezTo>
                      <a:pt x="231018" y="31750"/>
                      <a:pt x="238125" y="38857"/>
                      <a:pt x="238125" y="47625"/>
                    </a:cubicBezTo>
                    <a:lnTo>
                      <a:pt x="238125" y="142875"/>
                    </a:lnTo>
                    <a:cubicBezTo>
                      <a:pt x="238125" y="151643"/>
                      <a:pt x="231018" y="158750"/>
                      <a:pt x="222250" y="158750"/>
                    </a:cubicBezTo>
                    <a:lnTo>
                      <a:pt x="190500" y="158750"/>
                    </a:lnTo>
                    <a:lnTo>
                      <a:pt x="190500" y="127000"/>
                    </a:lnTo>
                    <a:lnTo>
                      <a:pt x="142875" y="127000"/>
                    </a:lnTo>
                    <a:lnTo>
                      <a:pt x="142875" y="158750"/>
                    </a:lnTo>
                    <a:cubicBezTo>
                      <a:pt x="142875" y="167518"/>
                      <a:pt x="135768" y="174625"/>
                      <a:pt x="127000" y="174625"/>
                    </a:cubicBezTo>
                    <a:lnTo>
                      <a:pt x="71993" y="174625"/>
                    </a:lnTo>
                    <a:cubicBezTo>
                      <a:pt x="66686" y="174626"/>
                      <a:pt x="61730" y="171975"/>
                      <a:pt x="58785" y="167561"/>
                    </a:cubicBezTo>
                    <a:lnTo>
                      <a:pt x="31750" y="127000"/>
                    </a:lnTo>
                    <a:lnTo>
                      <a:pt x="0" y="127000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645712" y="378190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规则引擎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1186" y="43310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处理明确的、法定的刚性合规要求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1152" y="46167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（如：表决人数、决议期限等绝对红线）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27375" y="5064125"/>
              <a:ext cx="238125" cy="158750"/>
            </a:xfrm>
            <a:custGeom>
              <a:avLst/>
              <a:gdLst/>
              <a:ahLst/>
              <a:cxnLst/>
              <a:rect l="l" t="t" r="r" b="b"/>
              <a:pathLst>
                <a:path w="238125" h="158750">
                  <a:moveTo>
                    <a:pt x="0" y="79375"/>
                  </a:moveTo>
                  <a:lnTo>
                    <a:pt x="79375" y="158750"/>
                  </a:ln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286500" y="3048000"/>
            <a:ext cx="5334000" cy="2476500"/>
            <a:chOff x="6286500" y="3048000"/>
            <a:chExt cx="5334000" cy="2476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304800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2A2A3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826500" y="3397250"/>
              <a:ext cx="254000" cy="254000"/>
              <a:chOff x="8826500" y="3397250"/>
              <a:chExt cx="254000" cy="25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890000" y="3460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127000"/>
                    </a:lnTo>
                    <a:lnTo>
                      <a:pt x="0" y="1270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826500" y="3397250"/>
                <a:ext cx="2540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54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5" y="0"/>
                      <a:pt x="254000" y="14215"/>
                      <a:pt x="254000" y="31750"/>
                    </a:cubicBezTo>
                    <a:lnTo>
                      <a:pt x="254000" y="222250"/>
                    </a:lnTo>
                    <a:cubicBezTo>
                      <a:pt x="254000" y="239785"/>
                      <a:pt x="239785" y="254000"/>
                      <a:pt x="222250" y="254000"/>
                    </a:cubicBezTo>
                    <a:lnTo>
                      <a:pt x="31750" y="254000"/>
                    </a:lnTo>
                    <a:cubicBezTo>
                      <a:pt x="14215" y="254000"/>
                      <a:pt x="0" y="239785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017000" y="3587750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52388" y="52388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017000" y="3408362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837612" y="3408362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52388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837612" y="3587750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52388" y="0"/>
                    </a:move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218944" y="378190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大模型辅助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75" y="43310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处理语义模糊的意图识别与风险提示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75" y="46167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（如：议题上下文、潜在逻辑冲突）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842375" y="5064125"/>
              <a:ext cx="238125" cy="158750"/>
            </a:xfrm>
            <a:custGeom>
              <a:avLst/>
              <a:gdLst/>
              <a:ahLst/>
              <a:cxnLst/>
              <a:rect l="l" t="t" r="r" b="b"/>
              <a:pathLst>
                <a:path w="238125" h="158750">
                  <a:moveTo>
                    <a:pt x="0" y="79375"/>
                  </a:moveTo>
                  <a:lnTo>
                    <a:pt x="79375" y="158750"/>
                  </a:ln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560070" y="6475095"/>
            <a:ext cx="1090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77054" y="64750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2" grpId="0"/>
      <p:bldP spid="24" grpId="0"/>
      <p:bldP spid="37" grpId="0"/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451485"/>
            <a:ext cx="11049000" cy="548640"/>
            <a:chOff x="571500" y="451485"/>
            <a:chExt cx="11049000" cy="548640"/>
          </a:xfrm>
        </p:grpSpPr>
        <p:grpSp>
          <p:nvGrpSpPr>
            <p:cNvPr id="9" name="Group 9"/>
            <p:cNvGrpSpPr/>
            <p:nvPr/>
          </p:nvGrpSpPr>
          <p:grpSpPr>
            <a:xfrm>
              <a:off x="628650" y="533400"/>
              <a:ext cx="228600" cy="228600"/>
              <a:chOff x="628650" y="533400"/>
              <a:chExt cx="228600" cy="2286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85800" y="590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28650" y="533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00100" y="704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0"/>
                    </a:moveTo>
                    <a:lnTo>
                      <a:pt x="47149" y="4714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543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47149"/>
                    </a:moveTo>
                    <a:lnTo>
                      <a:pt x="47149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38651" y="543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4714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38651" y="704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0"/>
                    </a:moveTo>
                    <a:lnTo>
                      <a:pt x="0" y="4714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13460" y="45148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飞书原生集成与数据安全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45782" y="1591151"/>
            <a:ext cx="6005679" cy="728187"/>
            <a:chOff x="545782" y="1591151"/>
            <a:chExt cx="6005679" cy="728187"/>
          </a:xfrm>
        </p:grpSpPr>
        <p:sp>
          <p:nvSpPr>
            <p:cNvPr id="13" name="TextBox 13"/>
            <p:cNvSpPr txBox="1"/>
            <p:nvPr/>
          </p:nvSpPr>
          <p:spPr>
            <a:xfrm>
              <a:off x="545782" y="1591151"/>
              <a:ext cx="600567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深度绑定飞书生态，实现多维表格的自动流转。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4355" y="204501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本地化处理，核心数据不出域；多维表格直接作为数据底座与操作前端。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38500" y="2476500"/>
            <a:ext cx="5715000" cy="3429000"/>
            <a:chOff x="3238500" y="2476500"/>
            <a:chExt cx="5715000" cy="3429000"/>
          </a:xfrm>
        </p:grpSpPr>
        <p:sp>
          <p:nvSpPr>
            <p:cNvPr id="16" name="Rectangle 16"/>
            <p:cNvSpPr/>
            <p:nvPr/>
          </p:nvSpPr>
          <p:spPr>
            <a:xfrm>
              <a:off x="3238500" y="2476500"/>
              <a:ext cx="5715000" cy="3429000"/>
            </a:xfrm>
            <a:prstGeom prst="roundRect">
              <a:avLst>
                <a:gd name="adj" fmla="val 3333"/>
              </a:avLst>
            </a:prstGeom>
            <a:solidFill>
              <a:srgbClr val="2A2A38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rcRect l="0" t="5000" r="0" b="5000"/>
            <a:stretch>
              <a:fillRect/>
            </a:stretch>
          </p:blipFill>
          <p:spPr>
            <a:xfrm>
              <a:off x="4191000" y="2476500"/>
              <a:ext cx="3810000" cy="342900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571500" y="2857500"/>
            <a:ext cx="2286000" cy="952500"/>
            <a:chOff x="571500" y="2857500"/>
            <a:chExt cx="2286000" cy="952500"/>
          </a:xfrm>
        </p:grpSpPr>
        <p:sp>
          <p:nvSpPr>
            <p:cNvPr id="19" name="Rectangle 19"/>
            <p:cNvSpPr/>
            <p:nvPr/>
          </p:nvSpPr>
          <p:spPr>
            <a:xfrm>
              <a:off x="571500" y="285750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19050">
              <a:solidFill>
                <a:srgbClr val="1E3A5F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88201" y="3190875"/>
              <a:ext cx="310011" cy="285750"/>
              <a:chOff x="788201" y="3190875"/>
              <a:chExt cx="310011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88201" y="3190875"/>
                <a:ext cx="310011" cy="283305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5">
                    <a:moveTo>
                      <a:pt x="155727" y="283305"/>
                    </a:moveTo>
                    <a:cubicBezTo>
                      <a:pt x="56277" y="252478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0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2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00125" y="34131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221105" y="3235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本地处理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286250"/>
            <a:ext cx="2286000" cy="952500"/>
            <a:chOff x="571500" y="4286250"/>
            <a:chExt cx="2286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571500" y="4286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19050">
              <a:solidFill>
                <a:srgbClr val="1E3A5F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25500" y="4619625"/>
              <a:ext cx="254000" cy="285750"/>
              <a:chOff x="825500" y="4619625"/>
              <a:chExt cx="254000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25500" y="461962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5500" y="46672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5500" y="47625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21105" y="46643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多维表格底层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34500" y="3571875"/>
            <a:ext cx="2286000" cy="952500"/>
            <a:chOff x="9334500" y="3571875"/>
            <a:chExt cx="2286000" cy="952500"/>
          </a:xfrm>
        </p:grpSpPr>
        <p:sp>
          <p:nvSpPr>
            <p:cNvPr id="32" name="Rectangle 32"/>
            <p:cNvSpPr/>
            <p:nvPr/>
          </p:nvSpPr>
          <p:spPr>
            <a:xfrm>
              <a:off x="9334500" y="3571875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19050">
              <a:solidFill>
                <a:srgbClr val="1E3A5F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572625" y="3937000"/>
              <a:ext cx="285750" cy="222251"/>
              <a:chOff x="9572625" y="3937000"/>
              <a:chExt cx="285750" cy="22225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72625" y="40163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15500" y="3937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683750" y="3937000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72625" y="4064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620250" y="3984625"/>
                <a:ext cx="238125" cy="174626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74626">
                    <a:moveTo>
                      <a:pt x="0" y="31750"/>
                    </a:moveTo>
                    <a:lnTo>
                      <a:pt x="31750" y="31750"/>
                    </a:lnTo>
                    <a:lnTo>
                      <a:pt x="63500" y="0"/>
                    </a:lnTo>
                    <a:lnTo>
                      <a:pt x="117189" y="0"/>
                    </a:lnTo>
                    <a:cubicBezTo>
                      <a:pt x="123201" y="3"/>
                      <a:pt x="128694" y="3402"/>
                      <a:pt x="131381" y="8779"/>
                    </a:cubicBezTo>
                    <a:lnTo>
                      <a:pt x="154369" y="54721"/>
                    </a:lnTo>
                    <a:cubicBezTo>
                      <a:pt x="157056" y="60098"/>
                      <a:pt x="162549" y="63497"/>
                      <a:pt x="168561" y="63500"/>
                    </a:cubicBezTo>
                    <a:lnTo>
                      <a:pt x="190500" y="63500"/>
                    </a:lnTo>
                    <a:lnTo>
                      <a:pt x="190500" y="31750"/>
                    </a:lnTo>
                    <a:lnTo>
                      <a:pt x="222250" y="31750"/>
                    </a:lnTo>
                    <a:cubicBezTo>
                      <a:pt x="231018" y="31750"/>
                      <a:pt x="238125" y="38857"/>
                      <a:pt x="238125" y="47625"/>
                    </a:cubicBezTo>
                    <a:lnTo>
                      <a:pt x="238125" y="142875"/>
                    </a:lnTo>
                    <a:cubicBezTo>
                      <a:pt x="238125" y="151643"/>
                      <a:pt x="231018" y="158750"/>
                      <a:pt x="222250" y="158750"/>
                    </a:cubicBezTo>
                    <a:lnTo>
                      <a:pt x="190500" y="158750"/>
                    </a:lnTo>
                    <a:lnTo>
                      <a:pt x="190500" y="127000"/>
                    </a:lnTo>
                    <a:lnTo>
                      <a:pt x="142875" y="127000"/>
                    </a:lnTo>
                    <a:lnTo>
                      <a:pt x="142875" y="158750"/>
                    </a:lnTo>
                    <a:cubicBezTo>
                      <a:pt x="142875" y="167518"/>
                      <a:pt x="135768" y="174625"/>
                      <a:pt x="127000" y="174625"/>
                    </a:cubicBezTo>
                    <a:lnTo>
                      <a:pt x="71993" y="174625"/>
                    </a:lnTo>
                    <a:cubicBezTo>
                      <a:pt x="66686" y="174626"/>
                      <a:pt x="61730" y="171975"/>
                      <a:pt x="58785" y="167561"/>
                    </a:cubicBezTo>
                    <a:lnTo>
                      <a:pt x="31750" y="127000"/>
                    </a:lnTo>
                    <a:lnTo>
                      <a:pt x="0" y="127000"/>
                    </a:ln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984105" y="3950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无缝自动化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0070" y="6475095"/>
            <a:ext cx="1090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77054" y="64750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1485"/>
            <a:ext cx="11049000" cy="548640"/>
            <a:chOff x="571500" y="451485"/>
            <a:chExt cx="11049000" cy="548640"/>
          </a:xfrm>
        </p:grpSpPr>
        <p:sp>
          <p:nvSpPr>
            <p:cNvPr id="3" name="Freeform 3"/>
            <p:cNvSpPr/>
            <p:nvPr/>
          </p:nvSpPr>
          <p:spPr>
            <a:xfrm>
              <a:off x="642938" y="576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3460" y="4514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典型使用场景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3234928" y="1400651"/>
            <a:ext cx="5722144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b="1" dirty="0">
                <a:solidFill>
                  <a:srgbClr val="F8F9FA"/>
                </a:solidFill>
                <a:latin typeface="Times New Roman"/>
                <a:ea typeface="KaiTi"/>
                <a:cs typeface="Times New Roman"/>
              </a:rPr>
              <a:t>满足议题申报、会议表决、会后归档全流程。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2286000"/>
            <a:ext cx="3429000" cy="3238500"/>
            <a:chOff x="571500" y="2286000"/>
            <a:chExt cx="3429000" cy="3238500"/>
          </a:xfrm>
        </p:grpSpPr>
        <p:sp>
          <p:nvSpPr>
            <p:cNvPr id="8" name="Rectangle 8"/>
            <p:cNvSpPr/>
            <p:nvPr/>
          </p:nvSpPr>
          <p:spPr>
            <a:xfrm>
              <a:off x="571500" y="2286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905000" y="2667000"/>
              <a:ext cx="762000" cy="762000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47747" y="2880360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9676" y="359140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议题智能审查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5355" y="42357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自动识别议题文本中的风险点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5355" y="45215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拦截程序瑕疵和红线问题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355" y="4807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输出合规建议报告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81500" y="2286000"/>
            <a:ext cx="3429000" cy="3238500"/>
            <a:chOff x="4381500" y="2286000"/>
            <a:chExt cx="3429000" cy="3238500"/>
          </a:xfrm>
        </p:grpSpPr>
        <p:sp>
          <p:nvSpPr>
            <p:cNvPr id="16" name="Rectangle 16"/>
            <p:cNvSpPr/>
            <p:nvPr/>
          </p:nvSpPr>
          <p:spPr>
            <a:xfrm>
              <a:off x="4381500" y="2286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15000" y="2667000"/>
              <a:ext cx="762000" cy="762000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7747" y="2880360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9676" y="359140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决议自动生成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5355" y="42357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根据表决结果动态排版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45355" y="4521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一键生成标准格式决议文件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5355" y="48072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大幅减少文书撰写时间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2286000"/>
            <a:ext cx="3429000" cy="3238500"/>
            <a:chOff x="8191500" y="2286000"/>
            <a:chExt cx="3429000" cy="3238500"/>
          </a:xfrm>
        </p:grpSpPr>
        <p:sp>
          <p:nvSpPr>
            <p:cNvPr id="24" name="Rectangle 24"/>
            <p:cNvSpPr/>
            <p:nvPr/>
          </p:nvSpPr>
          <p:spPr>
            <a:xfrm>
              <a:off x="8191500" y="2286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525000" y="2667000"/>
              <a:ext cx="762000" cy="762000"/>
            </a:xfrm>
            <a:prstGeom prst="ellipse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67747" y="2880360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676" y="359140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历史风险关联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55355" y="42357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与过往类似议题进行数据比对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55355" y="45215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揭示潜在的累积性风险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55355" y="4807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形成企业治理数字资产池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60070" y="6475095"/>
            <a:ext cx="1090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77054" y="64750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5" grpId="0"/>
      <p:bldP spid="23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451485"/>
            <a:ext cx="11049000" cy="548640"/>
            <a:chOff x="571500" y="451485"/>
            <a:chExt cx="11049000" cy="548640"/>
          </a:xfrm>
        </p:grpSpPr>
        <p:grpSp>
          <p:nvGrpSpPr>
            <p:cNvPr id="6" name="Group 6"/>
            <p:cNvGrpSpPr/>
            <p:nvPr/>
          </p:nvGrpSpPr>
          <p:grpSpPr>
            <a:xfrm>
              <a:off x="642938" y="561975"/>
              <a:ext cx="200025" cy="171450"/>
              <a:chOff x="642938" y="561975"/>
              <a:chExt cx="200025" cy="17145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42938" y="6477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757238" y="64770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57238" y="5619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013460" y="4514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商业模式与未来演进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45782" y="1591151"/>
            <a:ext cx="481483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8F9FA"/>
                </a:solidFill>
                <a:latin typeface="Times New Roman"/>
                <a:ea typeface="KaiTi"/>
                <a:cs typeface="Times New Roman"/>
              </a:rPr>
              <a:t>采用 SaaS 订阅制，并向多领域拓展。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2476500"/>
            <a:ext cx="5334000" cy="3048000"/>
            <a:chOff x="571500" y="2476500"/>
            <a:chExt cx="5334000" cy="3048000"/>
          </a:xfrm>
        </p:grpSpPr>
        <p:sp>
          <p:nvSpPr>
            <p:cNvPr id="11" name="Rectangle 11"/>
            <p:cNvSpPr/>
            <p:nvPr/>
          </p:nvSpPr>
          <p:spPr>
            <a:xfrm>
              <a:off x="571500" y="2476500"/>
              <a:ext cx="5334000" cy="3048000"/>
            </a:xfrm>
            <a:prstGeom prst="roundRect">
              <a:avLst>
                <a:gd name="adj" fmla="val 3750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35348" y="2829401"/>
              <a:ext cx="220630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商业模式 (SaaS)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86000" y="3333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61197" y="37595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面向企业客户提供按需订阅服务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1220" y="4140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轻量化部署，降低初始成本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1175" y="45215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按席位或模块收费，收入稳健可持续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0" y="2476500"/>
            <a:ext cx="5334000" cy="3048000"/>
            <a:chOff x="6286500" y="2476500"/>
            <a:chExt cx="5334000" cy="3048000"/>
          </a:xfrm>
        </p:grpSpPr>
        <p:sp>
          <p:nvSpPr>
            <p:cNvPr id="18" name="Rectangle 18"/>
            <p:cNvSpPr/>
            <p:nvPr/>
          </p:nvSpPr>
          <p:spPr>
            <a:xfrm>
              <a:off x="6286500" y="2476500"/>
              <a:ext cx="5334000" cy="3048000"/>
            </a:xfrm>
            <a:prstGeom prst="roundRect">
              <a:avLst>
                <a:gd name="adj" fmla="val 3750"/>
              </a:avLst>
            </a:prstGeom>
            <a:solidFill>
              <a:srgbClr val="2A2A3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78701" y="2829401"/>
              <a:ext cx="214959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未来演进 (拓展)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01000" y="3333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27241" y="3759518"/>
              <a:ext cx="18525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以“三会”为核心切入点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7208" y="4140518"/>
              <a:ext cx="23925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逐步向“投融资合规审查”延展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7208" y="4521518"/>
              <a:ext cx="23925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拓展“劳动用工合规管理”矩阵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0070" y="6475095"/>
            <a:ext cx="1090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77054" y="64750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7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20000"/>
                </a:srgbClr>
              </a:gs>
              <a:gs pos="100000">
                <a:srgbClr val="1A1A24">
                  <a:alpha val="9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604403" y="2274570"/>
            <a:ext cx="4983194" cy="1792605"/>
            <a:chOff x="3604403" y="2274570"/>
            <a:chExt cx="4983194" cy="1792605"/>
          </a:xfrm>
        </p:grpSpPr>
        <p:sp>
          <p:nvSpPr>
            <p:cNvPr id="4" name="TextBox 4"/>
            <p:cNvSpPr txBox="1"/>
            <p:nvPr/>
          </p:nvSpPr>
          <p:spPr>
            <a:xfrm>
              <a:off x="4515231" y="2274570"/>
              <a:ext cx="31615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谢谢聆听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0" y="3238500"/>
              <a:ext cx="76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04403" y="3518535"/>
              <a:ext cx="49831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期待与您共建智能合规新纪元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2026-07-21T07:54:49Z</dcterms:created>
  <dcterms:modified xsi:type="dcterms:W3CDTF">2026-07-21T07:54:49Z</dcterms:modified>
  <cp:category/>
  <cp:contentStatus/>
</cp:coreProperties>
</file>