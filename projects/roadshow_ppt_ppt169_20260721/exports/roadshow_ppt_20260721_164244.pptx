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委老师好，我们组的产品叫三会智理，它是一个面向上市企业会议管理的网页应用，专门服务股东会、董事会和监事会（也就是“三会”），以及其他会议的日常管理工作。在许多公司尤其是待上市公司中，以三会为主的会务工作对企业负担较重。从规划到记录的全过程繁琐、合规风险高。法务和董秘需要核对通知期限、要整理与会人员名单和会议纪要，还要准备全套通知、议程、签到表、决议等文书，最后归档留存。这些工作大量依赖人工，且容错率非常低，合规瑕疵就意味着法律风险和经济损失。三会智理旨在将整套流程自动化，并且预测合规风险供用户调整会议安排、修改会议文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会智理是一个全栈网页应用，前端用React构建界面，后端用Express提供接口，两者部署在同一个服务里，可以直接在云平台上运行。系统选择飞书多维表格作为数据中台，意味着会议信息、人员信息、议案、文书等数据不是孤立地存在于我们自己的数据库中，而是实时读写在客户的飞书表格中，方便企业的其他系统和人员协同查看。打开网页，第一个板块是全局控制台，待办会议数、已生成文书数、法定通知预警、与会人员总数四个核心指标在最醒目的位置，配合按会议类型着色的日历视图，让用户对于临期会议、合规指数较低的会议一目了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议管理模块负责会议的创建和维护。创建会议时，系统会根据选择的会议类型自动提示对应的法定门槛，比如临时股东会需要持股10%以上的股东提议才能召开，这类规则直接写进了创建流程中。与会人员的选择也做了优先级排序，董事、监事、高管、股东依次排列，股东还会自动标注持股比例。会议信息保存后实时同步到飞书表格，如果飞书那边还没有对应字段，系统会友好地提示并把数据先存在本地。</a:t>
            </a:r>
          </a:p>
          <a:p>
            <a:r>
              <a:rPr lang="zh-CN" dirty="0"/>
              <a:t>会议结束后，录音工作台负责将音频与会议纪要转成规范文档。它支持上传文稿与录音文件，后者使用飞书妙记的转写功能。转写完成后，系统能把飞书里该会议的基本信息、录音识别文件和已有议案自动关联，明确标出待补齐的内容。生成的文本可以按照国标文档规范预览和编辑，最后一键导出成Word文件，也可以推送到文书中心继续加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书中心是承担核心产出的模块。它提供会议通知、议程、签到表、决议、纪要、公告等多种文书模板，支持在线编辑和实时预览，最终可以导出成Word或PDF。这个模块和会议管理、录音工作台双向联动。系统在服务端准备了一整套Word模板，可以直接用飞书里的会议数据批量渲染，把一场会议需要的全部文书打包成压缩包下载，股东会对应9份文书，董事会和监事会各对应6份。</a:t>
            </a:r>
          </a:p>
          <a:p>
            <a:r>
              <a:rPr lang="zh-CN" dirty="0"/>
              <a:t>与会人员模块管理董监高和股东的完整信息，包括任期、独立性声明、关联关系、持股比例。这个模块也做了自动化的合规检测：比如系统规定董事和高级管理人员不能兼任监事；独立董事占比会自动计算并和监管要求的33%比较；每个人的任期兼剩余天数也会自动标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我想重点讲一下合规审查模块，这是我们认为最能体现产品价值的部分。在合规场景中，AI最大的风险是信息准确度不足，轻度的法律风险也可能造成极大损失。因此，我们在合规审查上设计了两条通道。第一条通道基于大模型做自由文本分析，生成一份可读性强的综合报告。第二条通道，是一个不依赖大模型的规则引擎。它从上传的文件和飞书里的会议上下文中，用规则化的方式提取事实，然后逐条对照公司法的具体条款生成风险项，并给出一个0到100的合规指数。该引擎的设计原则是只依据当前材料下结论，如果某项信息缺失，就明确标注为“无法判断”。审查结论必须可回溯，每一条风险评价都能追溯到具体的规则和事实，而不是一个黑箱式的评分。推理链条完全透明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从实现的角度看，整个系统是一个前后端运行在同一进程里的 Express 应用：浏览器端的 React 单页应用直接向后端接口发起请求，同时保留一部分纯前端能力，比如用 docx.js 在浏览器端直接生成 Word 文件。后端的核心是飞书接入这一层，负责获取和缓存访问令牌、读写多维表格记录，这一层做了容错设计：默认按表名自动匹配，也支持用环境变量手动指定。外部集成方面，飞书多维表格和妙记是系统的主数据源，签名认证部分是自行实现的HMAC-SHA256签名算法。文书批量生成模块在服务端用JSZip读取预先准备好的Word母版文件做占位符替换和循环展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综上所述，三会智理旨在将重复繁琐、容错率低的企业会务工作进行自动化执行和合规审查，并通过借助深度融入飞书生态提高本产品的用户间通信效率。感谢各位垂听，请各位评委老师批评指正。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9fc175c08bf363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9fc175c08bf363.png"/>
  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A">
                  <a:alpha val="20000"/>
                </a:srgbClr>
              </a:gs>
              <a:gs pos="60000">
                <a:srgbClr val="0A0A0A">
                  <a:alpha val="80000"/>
                </a:srgbClr>
              </a:gs>
              <a:gs pos="100000">
                <a:srgbClr val="0A0A0A"/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6477000" y="1143000"/>
            <a:ext cx="11430000" cy="11430000"/>
          </a:xfrm>
          <a:prstGeom prst="ellipse">
            <a:avLst/>
          </a:prstGeom>
          <a:solidFill>
            <a:srgbClr val="2E5A8C">
              <a:alpha val="5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80060" y="1508760"/>
            <a:ext cx="7698105" cy="2882265"/>
            <a:chOff x="480060" y="1508760"/>
            <a:chExt cx="7698105" cy="2882265"/>
          </a:xfrm>
        </p:grpSpPr>
        <p:sp>
          <p:nvSpPr>
            <p:cNvPr id="5" name="TextBox 5"/>
            <p:cNvSpPr txBox="1"/>
            <p:nvPr/>
          </p:nvSpPr>
          <p:spPr>
            <a:xfrm>
              <a:off x="480060" y="1508760"/>
              <a:ext cx="4215384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三会智理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2667000"/>
              <a:ext cx="1143000" cy="381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3040380"/>
              <a:ext cx="765238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将繁琐留给系统，将合规交予规则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4830" y="3964305"/>
              <a:ext cx="36937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智能会议与法务合规管理中台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477000" y="1143000"/>
            <a:ext cx="11430000" cy="11430000"/>
          </a:xfrm>
          <a:prstGeom prst="ellipse">
            <a:avLst/>
          </a:prstGeom>
          <a:solidFill>
            <a:srgbClr val="2E5A8C">
              <a:alpha val="5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62000" y="520065"/>
            <a:ext cx="7898925" cy="670560"/>
            <a:chOff x="762000" y="520065"/>
            <a:chExt cx="7898925" cy="670560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609600"/>
              <a:ext cx="304800" cy="304800"/>
              <a:chOff x="762000" y="609600"/>
              <a:chExt cx="304800" cy="304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838200" y="685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62000" y="60960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66700" y="0"/>
                    </a:lnTo>
                    <a:cubicBezTo>
                      <a:pt x="287742" y="0"/>
                      <a:pt x="304800" y="17058"/>
                      <a:pt x="304800" y="38100"/>
                    </a:cubicBezTo>
                    <a:lnTo>
                      <a:pt x="304800" y="266700"/>
                    </a:lnTo>
                    <a:cubicBezTo>
                      <a:pt x="304800" y="287742"/>
                      <a:pt x="287742" y="304800"/>
                      <a:pt x="266700" y="304800"/>
                    </a:cubicBez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90600" y="83820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0"/>
                    </a:moveTo>
                    <a:lnTo>
                      <a:pt x="62865" y="62865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62293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62865"/>
                    </a:moveTo>
                    <a:lnTo>
                      <a:pt x="62865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75335" y="62293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62865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75335" y="83820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253490" y="520065"/>
              <a:ext cx="740743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产品概述: 全栈驱动与飞书数据中台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1524000"/>
            <a:ext cx="10934700" cy="1905000"/>
            <a:chOff x="685800" y="1524000"/>
            <a:chExt cx="109347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85800" y="1524000"/>
              <a:ext cx="2857500" cy="1905000"/>
            </a:xfrm>
            <a:prstGeom prst="roundRect">
              <a:avLst>
                <a:gd name="adj" fmla="val 3000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900238" y="2000250"/>
              <a:ext cx="428625" cy="381000"/>
              <a:chOff x="1900238" y="2000250"/>
              <a:chExt cx="428625" cy="38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900238" y="200025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</a:path>
                </a:pathLst>
              </a:custGeom>
              <a:noFill/>
              <a:ln w="14288">
                <a:solidFill>
                  <a:srgbClr val="4A90D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900238" y="219075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  <a:lnTo>
                      <a:pt x="0" y="71438"/>
                    </a:lnTo>
                  </a:path>
                </a:pathLst>
              </a:custGeom>
              <a:noFill/>
              <a:ln w="14288">
                <a:solidFill>
                  <a:srgbClr val="4A90D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995488" y="2095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4288">
                <a:solidFill>
                  <a:srgbClr val="4A90D9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995488" y="2286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4288">
                <a:solidFill>
                  <a:srgbClr val="4A90D9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78888" y="2663190"/>
              <a:ext cx="167132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全栈 Web 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0403" y="3038475"/>
              <a:ext cx="15882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React + Express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3967162" y="2333625"/>
              <a:ext cx="333375" cy="285750"/>
              <a:chOff x="3967162" y="2333625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967162" y="24765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157662" y="24765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157662" y="23336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4724400" y="1524000"/>
              <a:ext cx="2857500" cy="1905000"/>
            </a:xfrm>
            <a:prstGeom prst="roundRect">
              <a:avLst>
                <a:gd name="adj" fmla="val 3000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38629" y="2091690"/>
              <a:ext cx="262904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全局控制台 Dashboard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8961" y="2562225"/>
              <a:ext cx="22683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核心指标监控 + 日历视图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33988" y="290512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临期预警与合规指数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005762" y="2333625"/>
              <a:ext cx="333375" cy="285750"/>
              <a:chOff x="8005762" y="2333625"/>
              <a:chExt cx="333375" cy="2857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005762" y="24765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96262" y="24765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96262" y="23336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8763000" y="1524000"/>
              <a:ext cx="2857500" cy="1905000"/>
            </a:xfrm>
            <a:prstGeom prst="roundRect">
              <a:avLst>
                <a:gd name="adj" fmla="val 3000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0001250" y="1976438"/>
              <a:ext cx="381000" cy="428624"/>
              <a:chOff x="10001250" y="1976438"/>
              <a:chExt cx="381000" cy="4286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001250" y="1976438"/>
                <a:ext cx="381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42875">
                    <a:moveTo>
                      <a:pt x="0" y="71438"/>
                    </a:moveTo>
                    <a:cubicBezTo>
                      <a:pt x="0" y="110891"/>
                      <a:pt x="85290" y="142875"/>
                      <a:pt x="190500" y="142875"/>
                    </a:cubicBezTo>
                    <a:cubicBezTo>
                      <a:pt x="295710" y="142875"/>
                      <a:pt x="381000" y="110891"/>
                      <a:pt x="381000" y="71438"/>
                    </a:cubicBezTo>
                    <a:cubicBezTo>
                      <a:pt x="381000" y="31984"/>
                      <a:pt x="295710" y="0"/>
                      <a:pt x="190500" y="0"/>
                    </a:cubicBezTo>
                    <a:cubicBezTo>
                      <a:pt x="85290" y="0"/>
                      <a:pt x="0" y="31984"/>
                      <a:pt x="0" y="71438"/>
                    </a:cubicBezTo>
                  </a:path>
                </a:pathLst>
              </a:custGeom>
              <a:noFill/>
              <a:ln w="14288">
                <a:solidFill>
                  <a:srgbClr val="4A90D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001250" y="2047875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4288">
                <a:solidFill>
                  <a:srgbClr val="4A90D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001250" y="2190750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4288">
                <a:solidFill>
                  <a:srgbClr val="4A90D9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412796" y="26631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飞书多维表格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72588" y="30384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实时读写的核心数据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5800" y="4191000"/>
            <a:ext cx="10934700" cy="1143000"/>
            <a:chOff x="685800" y="4191000"/>
            <a:chExt cx="109347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685800" y="4191000"/>
              <a:ext cx="10934700" cy="1143000"/>
            </a:xfrm>
            <a:prstGeom prst="roundRect">
              <a:avLst>
                <a:gd name="adj" fmla="val 5000"/>
              </a:avLst>
            </a:prstGeom>
            <a:solidFill>
              <a:srgbClr val="141414"/>
            </a:solidFill>
            <a:ln w="9525">
              <a:solidFill>
                <a:srgbClr val="333333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31928" y="4644390"/>
              <a:ext cx="5842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非孤立数据库架构：与企业现有系统和人员无缝协同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66750" y="6410325"/>
            <a:ext cx="18183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267122" y="6410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  <p:bldP spid="40" grpId="0"/>
      <p:bldP spid="43" grpId="0"/>
      <p:bldP spid="44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477000" y="1143000"/>
            <a:ext cx="11430000" cy="11430000"/>
          </a:xfrm>
          <a:prstGeom prst="ellipse">
            <a:avLst/>
          </a:prstGeom>
          <a:solidFill>
            <a:srgbClr val="2E5A8C">
              <a:alpha val="5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81050" y="520065"/>
            <a:ext cx="7417818" cy="670560"/>
            <a:chOff x="781050" y="520065"/>
            <a:chExt cx="7417818" cy="670560"/>
          </a:xfrm>
        </p:grpSpPr>
        <p:grpSp>
          <p:nvGrpSpPr>
            <p:cNvPr id="8" name="Group 8"/>
            <p:cNvGrpSpPr/>
            <p:nvPr/>
          </p:nvGrpSpPr>
          <p:grpSpPr>
            <a:xfrm>
              <a:off x="781050" y="571500"/>
              <a:ext cx="266700" cy="371475"/>
              <a:chOff x="781050" y="571500"/>
              <a:chExt cx="266700" cy="37147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857250" y="57150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52400"/>
                    </a:lnTo>
                    <a:cubicBezTo>
                      <a:pt x="114300" y="183963"/>
                      <a:pt x="88713" y="209550"/>
                      <a:pt x="57150" y="209550"/>
                    </a:cubicBezTo>
                    <a:cubicBezTo>
                      <a:pt x="25587" y="209550"/>
                      <a:pt x="0" y="183963"/>
                      <a:pt x="0" y="15240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81050" y="72390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0"/>
                    </a:moveTo>
                    <a:cubicBezTo>
                      <a:pt x="0" y="73647"/>
                      <a:pt x="59703" y="133350"/>
                      <a:pt x="133350" y="133350"/>
                    </a:cubicBezTo>
                    <a:cubicBezTo>
                      <a:pt x="206997" y="133350"/>
                      <a:pt x="266700" y="73647"/>
                      <a:pt x="266700" y="0"/>
                    </a:cubicBez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38200" y="9334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14400" y="8572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253490" y="520065"/>
              <a:ext cx="694537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核心功能: 会议管理与录音工作台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1524000"/>
            <a:ext cx="10972800" cy="3429000"/>
            <a:chOff x="685800" y="1524000"/>
            <a:chExt cx="10972800" cy="3429000"/>
          </a:xfrm>
        </p:grpSpPr>
        <p:sp>
          <p:nvSpPr>
            <p:cNvPr id="11" name="Rectangle 11"/>
            <p:cNvSpPr/>
            <p:nvPr/>
          </p:nvSpPr>
          <p:spPr>
            <a:xfrm>
              <a:off x="685800" y="1524000"/>
              <a:ext cx="4953000" cy="3429000"/>
            </a:xfrm>
            <a:prstGeom prst="roundRect">
              <a:avLst>
                <a:gd name="adj" fmla="val 1667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53520" y="18688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会议管理模块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66800" y="23812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8750" y="2743200"/>
              <a:ext cx="32084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 xml:space="preserve">自动提示法定门槛 (如 </a:t>
              </a:r>
              <a:r>
                <a:rPr lang="zh-CN" sz="21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10%</a:t>
              </a:r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 xml:space="preserve"> 提议权)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8750" y="3409950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与会人员智能排序与标记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8750" y="4076700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数据容错存盘，防缺失与丢失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005512" y="3095625"/>
              <a:ext cx="333375" cy="285750"/>
              <a:chOff x="6005512" y="3095625"/>
              <a:chExt cx="333375" cy="2857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005512" y="32385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196012" y="32385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196012" y="30956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</p:grpSp>
        <p:sp>
          <p:nvSpPr>
            <p:cNvPr id="21" name="Rectangle 21"/>
            <p:cNvSpPr/>
            <p:nvPr/>
          </p:nvSpPr>
          <p:spPr>
            <a:xfrm>
              <a:off x="6705600" y="1524000"/>
              <a:ext cx="4953000" cy="3429000"/>
            </a:xfrm>
            <a:prstGeom prst="roundRect">
              <a:avLst>
                <a:gd name="adj" fmla="val 1667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0338" y="18688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录音工作台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086600" y="23812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48550" y="2743200"/>
              <a:ext cx="24884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集成飞书妙记 ASR 语音转写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48550" y="3409950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识别文本与议案自动关联对齐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48550" y="4076700"/>
              <a:ext cx="31784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在线预览排版，一键导出国标 Word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66750" y="6410325"/>
            <a:ext cx="18183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67122" y="6410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477000" y="1143000"/>
            <a:ext cx="11430000" cy="11430000"/>
          </a:xfrm>
          <a:prstGeom prst="ellipse">
            <a:avLst/>
          </a:prstGeom>
          <a:solidFill>
            <a:srgbClr val="2E5A8C">
              <a:alpha val="5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81050" y="520065"/>
            <a:ext cx="5638895" cy="670560"/>
            <a:chOff x="781050" y="520065"/>
            <a:chExt cx="5638895" cy="670560"/>
          </a:xfrm>
        </p:grpSpPr>
        <p:grpSp>
          <p:nvGrpSpPr>
            <p:cNvPr id="9" name="Group 9"/>
            <p:cNvGrpSpPr/>
            <p:nvPr/>
          </p:nvGrpSpPr>
          <p:grpSpPr>
            <a:xfrm>
              <a:off x="781050" y="590550"/>
              <a:ext cx="266700" cy="342900"/>
              <a:chOff x="781050" y="590550"/>
              <a:chExt cx="266700" cy="3429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952500" y="5905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81050" y="5905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57250" y="7048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57250" y="7810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57250" y="8572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253490" y="520065"/>
              <a:ext cx="516645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文书中心与与会人员管理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1524000"/>
            <a:ext cx="10820400" cy="3429000"/>
            <a:chOff x="685800" y="1524000"/>
            <a:chExt cx="10820400" cy="3429000"/>
          </a:xfrm>
        </p:grpSpPr>
        <p:sp>
          <p:nvSpPr>
            <p:cNvPr id="12" name="Rectangle 12"/>
            <p:cNvSpPr/>
            <p:nvPr/>
          </p:nvSpPr>
          <p:spPr>
            <a:xfrm>
              <a:off x="685800" y="1524000"/>
              <a:ext cx="5143500" cy="3429000"/>
            </a:xfrm>
            <a:prstGeom prst="roundRect">
              <a:avLst>
                <a:gd name="adj" fmla="val 1667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54871" y="1868805"/>
              <a:ext cx="3405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文书中心 (一键打包成卷)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66800" y="2381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8750" y="2743200"/>
              <a:ext cx="2838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涵盖会议通知、议程、签到表等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8750" y="3409950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支持在线编辑与实时预览导出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8750" y="4076700"/>
              <a:ext cx="30984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 xml:space="preserve">股东会 </a:t>
              </a:r>
              <a:r>
                <a:rPr lang="zh-CN" sz="21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9</a:t>
              </a:r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 xml:space="preserve"> 份文书，董监会 </a:t>
              </a:r>
              <a:r>
                <a:rPr lang="zh-CN" sz="21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6</a:t>
              </a:r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 xml:space="preserve"> 份文书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62700" y="1524000"/>
              <a:ext cx="5143500" cy="3429000"/>
            </a:xfrm>
            <a:prstGeom prst="roundRect">
              <a:avLst>
                <a:gd name="adj" fmla="val 1667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25670" y="18688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与会人员矩阵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743700" y="2381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05650" y="274320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全景化董监高及股东持股任职信息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05650" y="3409950"/>
              <a:ext cx="27284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 xml:space="preserve">底线合规：独董占比 </a:t>
              </a:r>
              <a:r>
                <a:rPr lang="zh-CN" sz="21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33%</a:t>
              </a:r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 xml:space="preserve"> 校验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05650" y="407670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任期兼职互斥自动拦截与到期预警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66750" y="6410325"/>
            <a:ext cx="18183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67122" y="6410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477000" y="1143000"/>
            <a:ext cx="11430000" cy="11430000"/>
          </a:xfrm>
          <a:prstGeom prst="ellipse">
            <a:avLst/>
          </a:prstGeom>
          <a:solidFill>
            <a:srgbClr val="2E5A8C">
              <a:alpha val="5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17241" y="520065"/>
            <a:ext cx="8867800" cy="670560"/>
            <a:chOff x="717241" y="520065"/>
            <a:chExt cx="8867800" cy="670560"/>
          </a:xfrm>
        </p:grpSpPr>
        <p:grpSp>
          <p:nvGrpSpPr>
            <p:cNvPr id="6" name="Group 6"/>
            <p:cNvGrpSpPr/>
            <p:nvPr/>
          </p:nvGrpSpPr>
          <p:grpSpPr>
            <a:xfrm>
              <a:off x="717241" y="590550"/>
              <a:ext cx="372013" cy="342900"/>
              <a:chOff x="717241" y="590550"/>
              <a:chExt cx="372013" cy="3429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717241" y="590550"/>
                <a:ext cx="372013" cy="339966"/>
              </a:xfrm>
              <a:custGeom>
                <a:avLst/>
                <a:gdLst/>
                <a:ahLst/>
                <a:cxnLst/>
                <a:rect l="l" t="t" r="r" b="b"/>
                <a:pathLst>
                  <a:path w="372013" h="339966">
                    <a:moveTo>
                      <a:pt x="186872" y="339966"/>
                    </a:moveTo>
                    <a:cubicBezTo>
                      <a:pt x="67532" y="302974"/>
                      <a:pt x="0" y="177021"/>
                      <a:pt x="35234" y="57150"/>
                    </a:cubicBezTo>
                    <a:cubicBezTo>
                      <a:pt x="94585" y="59866"/>
                      <a:pt x="152661" y="39368"/>
                      <a:pt x="197159" y="0"/>
                    </a:cubicBezTo>
                    <a:cubicBezTo>
                      <a:pt x="241657" y="39368"/>
                      <a:pt x="299733" y="59866"/>
                      <a:pt x="359084" y="57150"/>
                    </a:cubicBezTo>
                    <a:cubicBezTo>
                      <a:pt x="372013" y="101139"/>
                      <a:pt x="371415" y="147998"/>
                      <a:pt x="357369" y="191643"/>
                    </a:cubicBez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971550" y="8572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1253490" y="520065"/>
              <a:ext cx="833155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核心壁垒: 透明可追溯的合规双通道审查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1524000"/>
            <a:ext cx="10820400" cy="4476750"/>
            <a:chOff x="685800" y="1524000"/>
            <a:chExt cx="10820400" cy="4476750"/>
          </a:xfrm>
        </p:grpSpPr>
        <p:sp>
          <p:nvSpPr>
            <p:cNvPr id="9" name="Rectangle 9"/>
            <p:cNvSpPr/>
            <p:nvPr/>
          </p:nvSpPr>
          <p:spPr>
            <a:xfrm>
              <a:off x="685800" y="1524000"/>
              <a:ext cx="4953000" cy="2095500"/>
            </a:xfrm>
            <a:prstGeom prst="roundRect">
              <a:avLst>
                <a:gd name="adj" fmla="val 2727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009900" y="1885950"/>
              <a:ext cx="304800" cy="304800"/>
              <a:chOff x="3009900" y="1885950"/>
              <a:chExt cx="304800" cy="304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086100" y="19621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009900" y="18859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66700" y="0"/>
                    </a:lnTo>
                    <a:cubicBezTo>
                      <a:pt x="287742" y="0"/>
                      <a:pt x="304800" y="17058"/>
                      <a:pt x="304800" y="38100"/>
                    </a:cubicBezTo>
                    <a:lnTo>
                      <a:pt x="304800" y="266700"/>
                    </a:lnTo>
                    <a:cubicBezTo>
                      <a:pt x="304800" y="287742"/>
                      <a:pt x="287742" y="304800"/>
                      <a:pt x="266700" y="304800"/>
                    </a:cubicBez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38500" y="21145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0"/>
                    </a:moveTo>
                    <a:lnTo>
                      <a:pt x="62865" y="62865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238500" y="18992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62865"/>
                    </a:moveTo>
                    <a:lnTo>
                      <a:pt x="62865" y="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023235" y="18992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62865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23235" y="21145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834517" y="2440305"/>
              <a:ext cx="265556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通道一: 大模型辅助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43062" y="288607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进行自由文本分析，生成综合报告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3038" y="3228975"/>
              <a:ext cx="3438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处理模糊语义意图，快速了解整体情况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53200" y="1524000"/>
              <a:ext cx="4953000" cy="2095500"/>
            </a:xfrm>
            <a:prstGeom prst="roundRect">
              <a:avLst>
                <a:gd name="adj" fmla="val 2727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858250" y="1905000"/>
              <a:ext cx="342900" cy="266701"/>
              <a:chOff x="8858250" y="1905000"/>
              <a:chExt cx="342900" cy="26670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858250" y="20002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029700" y="19050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991600" y="19050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858250" y="20574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15400" y="1962150"/>
                <a:ext cx="285750" cy="20955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09551">
                    <a:moveTo>
                      <a:pt x="0" y="38100"/>
                    </a:moveTo>
                    <a:lnTo>
                      <a:pt x="38100" y="38100"/>
                    </a:lnTo>
                    <a:lnTo>
                      <a:pt x="76200" y="0"/>
                    </a:lnTo>
                    <a:lnTo>
                      <a:pt x="140627" y="0"/>
                    </a:lnTo>
                    <a:cubicBezTo>
                      <a:pt x="147841" y="4"/>
                      <a:pt x="154433" y="4082"/>
                      <a:pt x="157658" y="10535"/>
                    </a:cubicBezTo>
                    <a:lnTo>
                      <a:pt x="185242" y="65665"/>
                    </a:lnTo>
                    <a:cubicBezTo>
                      <a:pt x="188467" y="72118"/>
                      <a:pt x="195059" y="76196"/>
                      <a:pt x="202273" y="76200"/>
                    </a:cubicBezTo>
                    <a:lnTo>
                      <a:pt x="228600" y="76200"/>
                    </a:lnTo>
                    <a:lnTo>
                      <a:pt x="228600" y="38100"/>
                    </a:lnTo>
                    <a:lnTo>
                      <a:pt x="266700" y="38100"/>
                    </a:lnTo>
                    <a:cubicBezTo>
                      <a:pt x="277221" y="38100"/>
                      <a:pt x="285750" y="46629"/>
                      <a:pt x="285750" y="57150"/>
                    </a:cubicBezTo>
                    <a:lnTo>
                      <a:pt x="285750" y="171450"/>
                    </a:lnTo>
                    <a:cubicBezTo>
                      <a:pt x="285750" y="181971"/>
                      <a:pt x="277221" y="190500"/>
                      <a:pt x="266700" y="190500"/>
                    </a:cubicBezTo>
                    <a:lnTo>
                      <a:pt x="228600" y="190500"/>
                    </a:lnTo>
                    <a:lnTo>
                      <a:pt x="228600" y="152400"/>
                    </a:lnTo>
                    <a:lnTo>
                      <a:pt x="171450" y="152400"/>
                    </a:lnTo>
                    <a:lnTo>
                      <a:pt x="171450" y="190500"/>
                    </a:lnTo>
                    <a:cubicBezTo>
                      <a:pt x="171450" y="201021"/>
                      <a:pt x="162921" y="209550"/>
                      <a:pt x="152400" y="209550"/>
                    </a:cubicBezTo>
                    <a:lnTo>
                      <a:pt x="86392" y="209550"/>
                    </a:lnTo>
                    <a:cubicBezTo>
                      <a:pt x="80024" y="209551"/>
                      <a:pt x="74076" y="206370"/>
                      <a:pt x="70542" y="201073"/>
                    </a:cubicBezTo>
                    <a:lnTo>
                      <a:pt x="38100" y="152400"/>
                    </a:lnTo>
                    <a:lnTo>
                      <a:pt x="0" y="152400"/>
                    </a:lnTo>
                    <a:lnTo>
                      <a:pt x="0" y="38100"/>
                    </a:lnTo>
                  </a:path>
                </a:pathLst>
              </a:custGeom>
              <a:noFill/>
              <a:ln w="14288">
                <a:solidFill>
                  <a:srgbClr val="B3B3B3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202055" y="2440305"/>
              <a:ext cx="365529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通道二: 规则引擎 (最核心)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0450" y="2886075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拒绝黑箱：不依赖大模型，避免幻觉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10400" y="3228975"/>
              <a:ext cx="4038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正则提取客观事实，精准匹配法规生成风险项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953125" y="3929062"/>
              <a:ext cx="285750" cy="333375"/>
              <a:chOff x="5953125" y="3929062"/>
              <a:chExt cx="285750" cy="3333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96000" y="3929062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96000" y="41195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953125" y="41195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</p:grpSp>
        <p:sp>
          <p:nvSpPr>
            <p:cNvPr id="34" name="Rectangle 34"/>
            <p:cNvSpPr/>
            <p:nvPr/>
          </p:nvSpPr>
          <p:spPr>
            <a:xfrm>
              <a:off x="685800" y="4572000"/>
              <a:ext cx="10820400" cy="1428750"/>
            </a:xfrm>
            <a:prstGeom prst="roundRect">
              <a:avLst>
                <a:gd name="adj" fmla="val 4000"/>
              </a:avLst>
            </a:prstGeom>
            <a:solidFill>
              <a:srgbClr val="141414"/>
            </a:solidFill>
            <a:ln w="9525">
              <a:solidFill>
                <a:srgbClr val="33333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18561" y="4916805"/>
              <a:ext cx="515487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 xml:space="preserve">透明可回溯的 </a:t>
              </a:r>
              <a:r>
                <a:rPr lang="zh-CN" sz="27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0-100</a:t>
              </a:r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 xml:space="preserve"> 合规审查打分体系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66574" y="5457825"/>
              <a:ext cx="60588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推理链条完全透明：要素提取 -&gt; 法规匹配 -&gt; 交叉核验 -&gt; 风险评级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66750" y="6410325"/>
            <a:ext cx="18183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67122" y="6410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477000" y="1143000"/>
            <a:ext cx="11430000" cy="11430000"/>
          </a:xfrm>
          <a:prstGeom prst="ellipse">
            <a:avLst/>
          </a:prstGeom>
          <a:solidFill>
            <a:srgbClr val="2E5A8C">
              <a:alpha val="5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42950" y="520065"/>
            <a:ext cx="6601111" cy="670560"/>
            <a:chOff x="742950" y="520065"/>
            <a:chExt cx="6601111" cy="670560"/>
          </a:xfrm>
        </p:grpSpPr>
        <p:grpSp>
          <p:nvGrpSpPr>
            <p:cNvPr id="9" name="Group 9"/>
            <p:cNvGrpSpPr/>
            <p:nvPr/>
          </p:nvGrpSpPr>
          <p:grpSpPr>
            <a:xfrm>
              <a:off x="742950" y="628650"/>
              <a:ext cx="342900" cy="266701"/>
              <a:chOff x="742950" y="628650"/>
              <a:chExt cx="342900" cy="26670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742950" y="7239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914400" y="6286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76300" y="6286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42950" y="7810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00100" y="685800"/>
                <a:ext cx="285750" cy="20955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09551">
                    <a:moveTo>
                      <a:pt x="0" y="38100"/>
                    </a:moveTo>
                    <a:lnTo>
                      <a:pt x="38100" y="38100"/>
                    </a:lnTo>
                    <a:lnTo>
                      <a:pt x="76200" y="0"/>
                    </a:lnTo>
                    <a:lnTo>
                      <a:pt x="140627" y="0"/>
                    </a:lnTo>
                    <a:cubicBezTo>
                      <a:pt x="147841" y="4"/>
                      <a:pt x="154433" y="4082"/>
                      <a:pt x="157658" y="10535"/>
                    </a:cubicBezTo>
                    <a:lnTo>
                      <a:pt x="185242" y="65665"/>
                    </a:lnTo>
                    <a:cubicBezTo>
                      <a:pt x="188467" y="72118"/>
                      <a:pt x="195059" y="76196"/>
                      <a:pt x="202273" y="76200"/>
                    </a:cubicBezTo>
                    <a:lnTo>
                      <a:pt x="228600" y="76200"/>
                    </a:lnTo>
                    <a:lnTo>
                      <a:pt x="228600" y="38100"/>
                    </a:lnTo>
                    <a:lnTo>
                      <a:pt x="266700" y="38100"/>
                    </a:lnTo>
                    <a:cubicBezTo>
                      <a:pt x="277221" y="38100"/>
                      <a:pt x="285750" y="46629"/>
                      <a:pt x="285750" y="57150"/>
                    </a:cubicBezTo>
                    <a:lnTo>
                      <a:pt x="285750" y="171450"/>
                    </a:lnTo>
                    <a:cubicBezTo>
                      <a:pt x="285750" y="181971"/>
                      <a:pt x="277221" y="190500"/>
                      <a:pt x="266700" y="190500"/>
                    </a:cubicBezTo>
                    <a:lnTo>
                      <a:pt x="228600" y="190500"/>
                    </a:lnTo>
                    <a:lnTo>
                      <a:pt x="228600" y="152400"/>
                    </a:lnTo>
                    <a:lnTo>
                      <a:pt x="171450" y="152400"/>
                    </a:lnTo>
                    <a:lnTo>
                      <a:pt x="171450" y="190500"/>
                    </a:lnTo>
                    <a:cubicBezTo>
                      <a:pt x="171450" y="201021"/>
                      <a:pt x="162921" y="209550"/>
                      <a:pt x="152400" y="209550"/>
                    </a:cubicBezTo>
                    <a:lnTo>
                      <a:pt x="86392" y="209550"/>
                    </a:lnTo>
                    <a:cubicBezTo>
                      <a:pt x="80024" y="209551"/>
                      <a:pt x="74076" y="206370"/>
                      <a:pt x="70542" y="201073"/>
                    </a:cubicBezTo>
                    <a:lnTo>
                      <a:pt x="38100" y="152400"/>
                    </a:lnTo>
                    <a:lnTo>
                      <a:pt x="0" y="152400"/>
                    </a:lnTo>
                    <a:lnTo>
                      <a:pt x="0" y="38100"/>
                    </a:lnTo>
                  </a:path>
                </a:pathLst>
              </a:custGeom>
              <a:noFill/>
              <a:ln w="14288">
                <a:solidFill>
                  <a:srgbClr val="F2F2F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253490" y="520065"/>
              <a:ext cx="609057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技术实现架构与外部生态集成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5800" y="1524000"/>
            <a:ext cx="10858500" cy="4572000"/>
            <a:chOff x="685800" y="1524000"/>
            <a:chExt cx="10858500" cy="4572000"/>
          </a:xfrm>
        </p:grpSpPr>
        <p:sp>
          <p:nvSpPr>
            <p:cNvPr id="12" name="Rectangle 12"/>
            <p:cNvSpPr/>
            <p:nvPr/>
          </p:nvSpPr>
          <p:spPr>
            <a:xfrm>
              <a:off x="685800" y="1524000"/>
              <a:ext cx="5143500" cy="2286000"/>
            </a:xfrm>
            <a:prstGeom prst="roundRect">
              <a:avLst>
                <a:gd name="adj" fmla="val 2500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65134" y="1773555"/>
              <a:ext cx="318483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前端能力 (React/Vite)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66800" y="21907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8750" y="2505075"/>
              <a:ext cx="16282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SPA 单页应用架构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8750" y="2981325"/>
              <a:ext cx="30184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docx.js 浏览器端生成 Word 文档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8750" y="34575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本地缓存与日程计算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043612" y="2524125"/>
              <a:ext cx="333375" cy="285750"/>
              <a:chOff x="6043612" y="2524125"/>
              <a:chExt cx="333375" cy="285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043612" y="26670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234112" y="26670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234112" y="25241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4288">
                <a:solidFill>
                  <a:srgbClr val="666666"/>
                </a:solidFill>
              </a:ln>
            </p:spPr>
          </p:sp>
        </p:grpSp>
        <p:sp>
          <p:nvSpPr>
            <p:cNvPr id="22" name="Rectangle 22"/>
            <p:cNvSpPr/>
            <p:nvPr/>
          </p:nvSpPr>
          <p:spPr>
            <a:xfrm>
              <a:off x="6591300" y="1524000"/>
              <a:ext cx="4953000" cy="2286000"/>
            </a:xfrm>
            <a:prstGeom prst="roundRect">
              <a:avLst>
                <a:gd name="adj" fmla="val 2500"/>
              </a:avLst>
            </a:prstGeom>
            <a:solidFill>
              <a:srgbClr val="111111"/>
            </a:solidFill>
            <a:ln w="9525">
              <a:solidFill>
                <a:srgbClr val="33333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81210" y="1773555"/>
              <a:ext cx="27731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后端服务 (Express)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972300" y="2190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34250" y="240982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同一进程内外双角色兼顾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34250" y="2790825"/>
              <a:ext cx="29484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HMAC-SHA256 安全签名认证机制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34250" y="3171825"/>
              <a:ext cx="23983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JSZip 服务端批量渲染文书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34250" y="3552825"/>
              <a:ext cx="2838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轻量级模型接口与失败降级策略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5800" y="4191000"/>
              <a:ext cx="10858500" cy="1905000"/>
            </a:xfrm>
            <a:prstGeom prst="roundRect">
              <a:avLst>
                <a:gd name="adj" fmla="val 3000"/>
              </a:avLst>
            </a:prstGeom>
            <a:solidFill>
              <a:srgbClr val="141414"/>
            </a:solidFill>
            <a:ln w="9525">
              <a:solidFill>
                <a:srgbClr val="33333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18196" y="4440555"/>
              <a:ext cx="29937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外部生态接入与数据源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066800" y="48577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28750" y="5172075"/>
              <a:ext cx="60088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 xml:space="preserve">飞书多维表格: </a:t>
              </a:r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核心主数据源，支持按表名自动匹配或环境变量兜底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28750" y="5743575"/>
              <a:ext cx="56588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 xml:space="preserve">飞书妙记及回调: </a:t>
              </a:r>
              <a:r>
                <a:rPr lang="zh-CN" sz="15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提供高精度 ASR 录音识别与事件回调写回支持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66750" y="6410325"/>
            <a:ext cx="18183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三会智理 | 路演汇报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67122" y="64103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34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A">
                  <a:alpha val="80000"/>
                </a:srgbClr>
              </a:gs>
              <a:gs pos="100000">
                <a:srgbClr val="0A0A0A">
                  <a:alpha val="95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6477000" y="1143000"/>
            <a:ext cx="11430000" cy="11430000"/>
          </a:xfrm>
          <a:prstGeom prst="ellipse">
            <a:avLst/>
          </a:prstGeom>
          <a:solidFill>
            <a:srgbClr val="2E5A8C">
              <a:alpha val="5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868900" y="2274570"/>
            <a:ext cx="8454200" cy="1983105"/>
            <a:chOff x="1868900" y="2274570"/>
            <a:chExt cx="8454200" cy="1983105"/>
          </a:xfrm>
        </p:grpSpPr>
        <p:sp>
          <p:nvSpPr>
            <p:cNvPr id="5" name="TextBox 5"/>
            <p:cNvSpPr txBox="1"/>
            <p:nvPr/>
          </p:nvSpPr>
          <p:spPr>
            <a:xfrm>
              <a:off x="1868900" y="2274570"/>
              <a:ext cx="845420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2F2F2"/>
                  </a:solidFill>
                  <a:latin typeface="Arial"/>
                  <a:ea typeface="Microsoft YaHei"/>
                  <a:cs typeface="Arial"/>
                </a:rPr>
                <a:t>谢谢聆听，敬请批评指正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524500" y="3238500"/>
              <a:ext cx="1143000" cy="381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461260" y="3709035"/>
              <a:ext cx="72694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B3B3B3"/>
                  </a:solidFill>
                  <a:latin typeface="Arial"/>
                  <a:ea typeface="Microsoft YaHei"/>
                  <a:cs typeface="Arial"/>
                </a:rPr>
                <a:t>三会智理：将重复繁琐自动化，提高沟通效率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2026-07-21T08:42:44Z</dcterms:created>
  <dcterms:modified xsi:type="dcterms:W3CDTF">2026-07-21T08:42:44Z</dcterms:modified>
  <cp:category/>
  <cp:contentStatus/>
</cp:coreProperties>
</file>